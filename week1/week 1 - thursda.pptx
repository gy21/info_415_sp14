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41"/>
  </p:notesMasterIdLst>
  <p:sldIdLst>
    <p:sldId id="256" r:id="rId3"/>
    <p:sldId id="257" r:id="rId4"/>
    <p:sldId id="258" r:id="rId5"/>
    <p:sldId id="259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0" d="100"/>
          <a:sy n="70" d="100"/>
        </p:scale>
        <p:origin x="691" y="-37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20" Type="http://schemas.openxmlformats.org/officeDocument/2006/relationships/slide" Target="slides/slide18.xml"/><Relationship Id="rId41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4657D-7C77-F54D-9EE1-DF16A95BBEC7}" type="datetimeFigureOut">
              <a:rPr lang="en-US" smtClean="0"/>
              <a:t>4/3/2014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836824-B80D-DF49-A28D-1E411C538D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7727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41368814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3306406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707515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2A76C2F-35FB-410D-847E-E529C6CE5B04}" type="slidenum">
              <a:rPr lang="en-US" smtClean="0">
                <a:solidFill>
                  <a:prstClr val="black"/>
                </a:solidFill>
              </a:rPr>
              <a:pPr/>
              <a:t>6</a:t>
            </a:fld>
            <a:endParaRPr lang="en-US" smtClean="0">
              <a:solidFill>
                <a:prstClr val="black"/>
              </a:solidFill>
            </a:endParaRPr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1262614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40663538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2738090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681235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8584785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4872427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3267419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5816366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2A76C2F-35FB-410D-847E-E529C6CE5B04}" type="slidenum">
              <a:rPr lang="en-US" smtClean="0">
                <a:solidFill>
                  <a:prstClr val="black"/>
                </a:solidFill>
              </a:rPr>
              <a:pPr/>
              <a:t>14</a:t>
            </a:fld>
            <a:endParaRPr lang="en-US" smtClean="0">
              <a:solidFill>
                <a:prstClr val="black"/>
              </a:solidFill>
            </a:endParaRPr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40896992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486087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680992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41870704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3921646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7093125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98676346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75585144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30361410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2A76C2F-35FB-410D-847E-E529C6CE5B04}" type="slidenum">
              <a:rPr lang="en-US" smtClean="0">
                <a:solidFill>
                  <a:prstClr val="black"/>
                </a:solidFill>
              </a:rPr>
              <a:pPr/>
              <a:t>23</a:t>
            </a:fld>
            <a:endParaRPr lang="en-US" smtClean="0">
              <a:solidFill>
                <a:prstClr val="black"/>
              </a:solidFill>
            </a:endParaRPr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6469897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9799456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10837699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2A76C2F-35FB-410D-847E-E529C6CE5B04}" type="slidenum">
              <a:rPr lang="en-US" smtClean="0">
                <a:solidFill>
                  <a:prstClr val="black"/>
                </a:solidFill>
              </a:rPr>
              <a:pPr/>
              <a:t>26</a:t>
            </a:fld>
            <a:endParaRPr lang="en-US" smtClean="0">
              <a:solidFill>
                <a:prstClr val="black"/>
              </a:solidFill>
            </a:endParaRPr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25322832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52714079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55704984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12938436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423817850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20420332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19780601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09050686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87102097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44250423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70616154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73555131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9525638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AE56E-4DF3-4446-B62B-D677A770898E}" type="datetimeFigureOut">
              <a:rPr lang="en-US" smtClean="0"/>
              <a:t>4/3/2014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23A3E-8E0A-0E4E-A53C-4C0D734BD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1186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AE56E-4DF3-4446-B62B-D677A770898E}" type="datetimeFigureOut">
              <a:rPr lang="en-US" smtClean="0"/>
              <a:t>4/3/2014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23A3E-8E0A-0E4E-A53C-4C0D734BD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44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AE56E-4DF3-4446-B62B-D677A770898E}" type="datetimeFigureOut">
              <a:rPr lang="en-US" smtClean="0"/>
              <a:t>4/3/2014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23A3E-8E0A-0E4E-A53C-4C0D734BD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890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AE56E-4DF3-4446-B62B-D677A770898E}" type="datetimeFigureOut">
              <a:rPr lang="en-US" smtClean="0"/>
              <a:t>4/3/2014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23A3E-8E0A-0E4E-A53C-4C0D734BD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AE56E-4DF3-4446-B62B-D677A770898E}" type="datetimeFigureOut">
              <a:rPr lang="en-US" smtClean="0"/>
              <a:t>4/3/2014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23A3E-8E0A-0E4E-A53C-4C0D734BD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490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AE56E-4DF3-4446-B62B-D677A770898E}" type="datetimeFigureOut">
              <a:rPr lang="en-US" smtClean="0"/>
              <a:t>4/3/2014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23A3E-8E0A-0E4E-A53C-4C0D734BD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670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AE56E-4DF3-4446-B62B-D677A770898E}" type="datetimeFigureOut">
              <a:rPr lang="en-US" smtClean="0"/>
              <a:t>4/3/2014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23A3E-8E0A-0E4E-A53C-4C0D734BD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923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AE56E-4DF3-4446-B62B-D677A770898E}" type="datetimeFigureOut">
              <a:rPr lang="en-US" smtClean="0"/>
              <a:t>4/3/2014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23A3E-8E0A-0E4E-A53C-4C0D734BD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276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AE56E-4DF3-4446-B62B-D677A770898E}" type="datetimeFigureOut">
              <a:rPr lang="en-US" smtClean="0"/>
              <a:t>4/3/2014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23A3E-8E0A-0E4E-A53C-4C0D734BD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835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AE56E-4DF3-4446-B62B-D677A770898E}" type="datetimeFigureOut">
              <a:rPr lang="en-US" smtClean="0"/>
              <a:t>4/3/2014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23A3E-8E0A-0E4E-A53C-4C0D734BD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4841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AE56E-4DF3-4446-B62B-D677A770898E}" type="datetimeFigureOut">
              <a:rPr lang="en-US" smtClean="0"/>
              <a:t>4/3/2014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23A3E-8E0A-0E4E-A53C-4C0D734BD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655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3" descr="Title Image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390650"/>
            <a:ext cx="9144000" cy="546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9" descr="TITLE-Border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3838" y="223838"/>
            <a:ext cx="8696325" cy="632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15" descr="Logo-with-ta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74663" y="492125"/>
            <a:ext cx="3981450" cy="654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172" name="Rectangle 4"/>
          <p:cNvSpPr>
            <a:spLocks noGrp="1" noChangeArrowheads="1"/>
          </p:cNvSpPr>
          <p:nvPr>
            <p:ph type="ctrTitle"/>
          </p:nvPr>
        </p:nvSpPr>
        <p:spPr>
          <a:xfrm>
            <a:off x="3724275" y="2840038"/>
            <a:ext cx="4895850" cy="1470025"/>
          </a:xfrm>
        </p:spPr>
        <p:txBody>
          <a:bodyPr/>
          <a:lstStyle>
            <a:lvl1pPr>
              <a:defRPr sz="3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7173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3724275" y="4095750"/>
            <a:ext cx="4891088" cy="1752600"/>
          </a:xfrm>
        </p:spPr>
        <p:txBody>
          <a:bodyPr/>
          <a:lstStyle>
            <a:lvl1pPr marL="0" indent="0">
              <a:buFontTx/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6718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2727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126009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2913" y="1511300"/>
            <a:ext cx="4097337" cy="4586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92650" y="1511300"/>
            <a:ext cx="4098925" cy="4586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9493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4923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6219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689895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460208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520253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5210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05600" y="142875"/>
            <a:ext cx="2085975" cy="595471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2913" y="142875"/>
            <a:ext cx="6110287" cy="595471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83663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457200"/>
            <a:ext cx="7118350" cy="41433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04800" y="1295400"/>
            <a:ext cx="4117975" cy="23034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5175" y="1295400"/>
            <a:ext cx="4117975" cy="23034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20725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373063"/>
            <a:ext cx="8229600" cy="57531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sz="2400" b="1">
              <a:solidFill>
                <a:srgbClr val="000000"/>
              </a:solidFill>
              <a:latin typeface="Arial Narrow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sz="2400" b="1">
              <a:solidFill>
                <a:srgbClr val="000000"/>
              </a:solidFill>
              <a:latin typeface="Arial Narrow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BB942F71-0B87-4C8C-995A-DC66CBF45B8E}" type="slidenum">
              <a:rPr lang="en-US" sz="2400" b="1">
                <a:solidFill>
                  <a:srgbClr val="000000"/>
                </a:solidFill>
                <a:latin typeface="Arial Narrow" pitchFamily="34" charset="0"/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2400" b="1">
              <a:solidFill>
                <a:srgbClr val="000000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5462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BAE56E-4DF3-4446-B62B-D677A770898E}" type="datetimeFigureOut">
              <a:rPr lang="en-US" smtClean="0"/>
              <a:t>4/3/2014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923A3E-8E0A-0E4E-A53C-4C0D734BD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200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15" descr="LONG Banner"/>
          <p:cNvPicPr>
            <a:picLocks noChangeAspect="1" noChangeArrowheads="1"/>
          </p:cNvPicPr>
          <p:nvPr/>
        </p:nvPicPr>
        <p:blipFill>
          <a:blip r:embed="rId15"/>
          <a:srcRect/>
          <a:stretch>
            <a:fillRect/>
          </a:stretch>
        </p:blipFill>
        <p:spPr bwMode="auto">
          <a:xfrm>
            <a:off x="0" y="0"/>
            <a:ext cx="91440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14" descr="TEXT-Border"/>
          <p:cNvPicPr>
            <a:picLocks noChangeAspect="1" noChangeArrowheads="1"/>
          </p:cNvPicPr>
          <p:nvPr/>
        </p:nvPicPr>
        <p:blipFill>
          <a:blip r:embed="rId16"/>
          <a:srcRect/>
          <a:stretch>
            <a:fillRect/>
          </a:stretch>
        </p:blipFill>
        <p:spPr bwMode="auto">
          <a:xfrm>
            <a:off x="223838" y="223838"/>
            <a:ext cx="8696325" cy="632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42913" y="142875"/>
            <a:ext cx="8348662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205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42913" y="1511300"/>
            <a:ext cx="8348662" cy="4586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pic>
        <p:nvPicPr>
          <p:cNvPr id="2054" name="Picture 8" descr="Logo"/>
          <p:cNvPicPr>
            <a:picLocks noChangeAspect="1" noChangeArrowheads="1"/>
          </p:cNvPicPr>
          <p:nvPr/>
        </p:nvPicPr>
        <p:blipFill>
          <a:blip r:embed="rId17"/>
          <a:srcRect/>
          <a:stretch>
            <a:fillRect/>
          </a:stretch>
        </p:blipFill>
        <p:spPr bwMode="auto">
          <a:xfrm>
            <a:off x="409575" y="6300788"/>
            <a:ext cx="2268538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795320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5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500" b="1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500" b="1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500" b="1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500" b="1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500" b="1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500" b="1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500" b="1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500" b="1">
          <a:solidFill>
            <a:schemeClr val="tx2"/>
          </a:solidFill>
          <a:latin typeface="Arial" charset="0"/>
        </a:defRPr>
      </a:lvl9pPr>
    </p:titleStyle>
    <p:bodyStyle>
      <a:lvl1pPr marL="225425" indent="-225425" algn="l" rtl="0" eaLnBrk="0" fontAlgn="base" hangingPunct="0">
        <a:lnSpc>
          <a:spcPct val="95000"/>
        </a:lnSpc>
        <a:spcBef>
          <a:spcPct val="60000"/>
        </a:spcBef>
        <a:spcAft>
          <a:spcPct val="0"/>
        </a:spcAft>
        <a:buClr>
          <a:schemeClr val="accent1"/>
        </a:buClr>
        <a:buSzPct val="110000"/>
        <a:buChar char="•"/>
        <a:defRPr sz="2100" b="1">
          <a:solidFill>
            <a:srgbClr val="2B98C6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lnSpc>
          <a:spcPct val="95000"/>
        </a:lnSpc>
        <a:spcBef>
          <a:spcPct val="45000"/>
        </a:spcBef>
        <a:spcAft>
          <a:spcPct val="0"/>
        </a:spcAft>
        <a:buChar char="–"/>
        <a:defRPr sz="19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lnSpc>
          <a:spcPct val="95000"/>
        </a:lnSpc>
        <a:spcBef>
          <a:spcPct val="25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lnSpc>
          <a:spcPct val="95000"/>
        </a:lnSpc>
        <a:spcBef>
          <a:spcPct val="25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lnSpc>
          <a:spcPct val="95000"/>
        </a:lnSpc>
        <a:spcBef>
          <a:spcPct val="25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lnSpc>
          <a:spcPct val="95000"/>
        </a:lnSpc>
        <a:spcBef>
          <a:spcPct val="25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lnSpc>
          <a:spcPct val="95000"/>
        </a:lnSpc>
        <a:spcBef>
          <a:spcPct val="25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lnSpc>
          <a:spcPct val="95000"/>
        </a:lnSpc>
        <a:spcBef>
          <a:spcPct val="25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1.bin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44213"/>
            <a:ext cx="7772400" cy="1470025"/>
          </a:xfrm>
        </p:spPr>
        <p:txBody>
          <a:bodyPr>
            <a:noAutofit/>
          </a:bodyPr>
          <a:lstStyle/>
          <a:p>
            <a:r>
              <a:rPr lang="en-US" sz="1400" dirty="0" smtClean="0">
                <a:latin typeface="Consolas"/>
                <a:cs typeface="Consolas"/>
              </a:rPr>
              <a:t> _______    __   __   __ __      _____    _____    _______   </a:t>
            </a:r>
            <a:br>
              <a:rPr lang="en-US" sz="1400" dirty="0" smtClean="0">
                <a:latin typeface="Consolas"/>
                <a:cs typeface="Consolas"/>
              </a:rPr>
            </a:br>
            <a:r>
              <a:rPr lang="en-US" sz="1400" dirty="0" smtClean="0">
                <a:latin typeface="Consolas"/>
                <a:cs typeface="Consolas"/>
              </a:rPr>
              <a:t>/\_______)\ /\_\ /_/\ /_/\__/\  /\_____\  /\___/\ /\_______)\ </a:t>
            </a:r>
            <a:br>
              <a:rPr lang="en-US" sz="1400" dirty="0" smtClean="0">
                <a:latin typeface="Consolas"/>
                <a:cs typeface="Consolas"/>
              </a:rPr>
            </a:br>
            <a:r>
              <a:rPr lang="en-US" sz="1400" dirty="0" smtClean="0">
                <a:latin typeface="Consolas"/>
                <a:cs typeface="Consolas"/>
              </a:rPr>
              <a:t>\(___  __\/( ( (_) ) )) ) ) ) )( (_____/ / / _ \ \\(___  __\/ </a:t>
            </a:r>
            <a:br>
              <a:rPr lang="en-US" sz="1400" dirty="0" smtClean="0">
                <a:latin typeface="Consolas"/>
                <a:cs typeface="Consolas"/>
              </a:rPr>
            </a:br>
            <a:r>
              <a:rPr lang="en-US" sz="1400" dirty="0" smtClean="0">
                <a:latin typeface="Consolas"/>
                <a:cs typeface="Consolas"/>
              </a:rPr>
              <a:t>  / / /     \ \___/ //_/ /_/_/  \ \__\   \ \(_)/ /  / / /     </a:t>
            </a:r>
            <a:br>
              <a:rPr lang="en-US" sz="1400" dirty="0" smtClean="0">
                <a:latin typeface="Consolas"/>
                <a:cs typeface="Consolas"/>
              </a:rPr>
            </a:br>
            <a:r>
              <a:rPr lang="en-US" sz="1400" dirty="0" smtClean="0">
                <a:latin typeface="Consolas"/>
                <a:cs typeface="Consolas"/>
              </a:rPr>
              <a:t> ( ( (      / / _ \ \\ \ \ \ \  / /__/_  / / _ \ \ ( ( (      </a:t>
            </a:r>
            <a:br>
              <a:rPr lang="en-US" sz="1400" dirty="0" smtClean="0">
                <a:latin typeface="Consolas"/>
                <a:cs typeface="Consolas"/>
              </a:rPr>
            </a:br>
            <a:r>
              <a:rPr lang="en-US" sz="1400" dirty="0" smtClean="0">
                <a:latin typeface="Consolas"/>
                <a:cs typeface="Consolas"/>
              </a:rPr>
              <a:t>  \ \ \    ( (_( )_) ))_) ) \ \( (_____\( (_( )_) ) \ \ \     </a:t>
            </a:r>
            <a:br>
              <a:rPr lang="en-US" sz="1400" dirty="0" smtClean="0">
                <a:latin typeface="Consolas"/>
                <a:cs typeface="Consolas"/>
              </a:rPr>
            </a:br>
            <a:r>
              <a:rPr lang="en-US" sz="1400" dirty="0" smtClean="0">
                <a:latin typeface="Consolas"/>
                <a:cs typeface="Consolas"/>
              </a:rPr>
              <a:t>  /_/_/     \/_/ \_\/ \_\/ \_\/ \/_____/ \/_/ \_\/  /_/_/     </a:t>
            </a:r>
            <a:br>
              <a:rPr lang="en-US" sz="1400" dirty="0" smtClean="0">
                <a:latin typeface="Consolas"/>
                <a:cs typeface="Consolas"/>
              </a:rPr>
            </a:br>
            <a:r>
              <a:rPr lang="en-US" sz="1400" dirty="0" smtClean="0">
                <a:latin typeface="Consolas"/>
                <a:cs typeface="Consolas"/>
              </a:rPr>
              <a:t> </a:t>
            </a:r>
            <a:endParaRPr lang="en-US" sz="1400" dirty="0">
              <a:latin typeface="Consolas"/>
              <a:cs typeface="Consolas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349049" y="3166638"/>
            <a:ext cx="8510882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dirty="0" smtClean="0">
                <a:latin typeface="Consolas"/>
                <a:cs typeface="Consolas"/>
              </a:rPr>
              <a:t> __    __     _____     _____     _____   __       __    __   __    ______    </a:t>
            </a:r>
          </a:p>
          <a:p>
            <a:r>
              <a:rPr lang="en-US" sz="1400" dirty="0" smtClean="0">
                <a:latin typeface="Consolas"/>
                <a:cs typeface="Consolas"/>
              </a:rPr>
              <a:t> /_/\  /\_\   ) ___ (   /\ __/\  /\_____\ /\_\     /\_\  /_/\ /\_\  /_/\___\   </a:t>
            </a:r>
          </a:p>
          <a:p>
            <a:r>
              <a:rPr lang="en-US" sz="1400" dirty="0" smtClean="0">
                <a:latin typeface="Consolas"/>
                <a:cs typeface="Consolas"/>
              </a:rPr>
              <a:t> ) ) \/ ( (  / /\_/\ \  ) )  \ \( (_____/( ( (     \/_/  ) ) \ ( (  ) ) ___/   </a:t>
            </a:r>
          </a:p>
          <a:p>
            <a:r>
              <a:rPr lang="en-US" sz="1400" dirty="0" smtClean="0">
                <a:latin typeface="Consolas"/>
                <a:cs typeface="Consolas"/>
              </a:rPr>
              <a:t>/_/ \  / \_\/ /_/ (_\ \/ / /\ \ \\ \__\   \ \_\     /\_\/_/   \ \_\/_/ /  ___  </a:t>
            </a:r>
          </a:p>
          <a:p>
            <a:r>
              <a:rPr lang="en-US" sz="1400" dirty="0" smtClean="0">
                <a:latin typeface="Consolas"/>
                <a:cs typeface="Consolas"/>
              </a:rPr>
              <a:t>\ \ \\// / /\ \ )_/ / /\ \ \/ / // /__/_  / / /__  / / /\ \ \   / /\ \ \_/\__\ </a:t>
            </a:r>
          </a:p>
          <a:p>
            <a:r>
              <a:rPr lang="en-US" sz="1400" dirty="0" smtClean="0">
                <a:latin typeface="Consolas"/>
                <a:cs typeface="Consolas"/>
              </a:rPr>
              <a:t> )_) )( (_(  \ \/_\/ /  ) )__/ /( (_____\( (_____(( (_(  )_) \ (_(  )_)  \/ _/ </a:t>
            </a:r>
          </a:p>
          <a:p>
            <a:r>
              <a:rPr lang="en-US" sz="1400" dirty="0" smtClean="0">
                <a:latin typeface="Consolas"/>
                <a:cs typeface="Consolas"/>
              </a:rPr>
              <a:t> \_\/  \/_/   )_____(   \/___\/  \/_____/ \/_____/ \/_/  \_\/ \/_/  \_\____/ </a:t>
            </a:r>
            <a:endParaRPr lang="en-US" sz="1400" dirty="0">
              <a:latin typeface="Consolas"/>
              <a:cs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535061" y="5176690"/>
            <a:ext cx="2139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  <a:r>
              <a:rPr lang="en-US" dirty="0" smtClean="0"/>
              <a:t>nd a typical </a:t>
            </a:r>
            <a:r>
              <a:rPr lang="en-US" dirty="0" err="1" smtClean="0"/>
              <a:t>pentest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10214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Threat Modeling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9337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Step 1: Read all documentation</a:t>
            </a:r>
          </a:p>
          <a:p>
            <a:r>
              <a:rPr lang="en-US" dirty="0" smtClean="0"/>
              <a:t>Step 2: Use the application to perform basic tasks</a:t>
            </a:r>
          </a:p>
          <a:p>
            <a:r>
              <a:rPr lang="en-US" dirty="0" smtClean="0"/>
              <a:t>Step 3: Watch how data moves</a:t>
            </a:r>
          </a:p>
          <a:p>
            <a:r>
              <a:rPr lang="en-US" dirty="0" smtClean="0"/>
              <a:t>Step 4: Define user roles</a:t>
            </a:r>
          </a:p>
          <a:p>
            <a:r>
              <a:rPr lang="en-US" dirty="0" smtClean="0"/>
              <a:t>Step 5: Define assets</a:t>
            </a:r>
          </a:p>
          <a:p>
            <a:r>
              <a:rPr lang="en-US" dirty="0" smtClean="0"/>
              <a:t>Step 6: Define components</a:t>
            </a:r>
          </a:p>
          <a:p>
            <a:r>
              <a:rPr lang="en-US" dirty="0" smtClean="0"/>
              <a:t>Step 7: Access matrix</a:t>
            </a:r>
          </a:p>
          <a:p>
            <a:r>
              <a:rPr lang="en-US" dirty="0" smtClean="0"/>
              <a:t>Step 8: Component diagram</a:t>
            </a:r>
          </a:p>
          <a:p>
            <a:r>
              <a:rPr lang="en-US" dirty="0" smtClean="0"/>
              <a:t>Step 9: Threat tree</a:t>
            </a:r>
          </a:p>
        </p:txBody>
      </p:sp>
    </p:spTree>
    <p:extLst>
      <p:ext uri="{BB962C8B-B14F-4D97-AF65-F5344CB8AC3E}">
        <p14:creationId xmlns:p14="http://schemas.microsoft.com/office/powerpoint/2010/main" val="17002450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394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Threat Based Testing – Threat Modeling</a:t>
            </a:r>
            <a:br>
              <a:rPr lang="en-US" dirty="0" smtClean="0"/>
            </a:br>
            <a:r>
              <a:rPr lang="en-US" sz="1800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Introduction to Threat Modeling – What is Threat Modeling</a:t>
            </a:r>
          </a:p>
        </p:txBody>
      </p:sp>
      <p:sp>
        <p:nvSpPr>
          <p:cNvPr id="6147" name="Rectangle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Software development is about creating applications that enable users to perform some tasks</a:t>
            </a:r>
          </a:p>
          <a:p>
            <a:pPr eaLnBrk="1" hangingPunct="1"/>
            <a:r>
              <a:rPr lang="en-US" smtClean="0"/>
              <a:t>Secure development requires determining what a user shouldn't do and ensuring that the code properly restricts users to authorized actions.</a:t>
            </a:r>
          </a:p>
          <a:p>
            <a:pPr eaLnBrk="1" hangingPunct="1"/>
            <a:r>
              <a:rPr lang="en-US" smtClean="0"/>
              <a:t>Threat modeling is a design activity to do just that</a:t>
            </a:r>
          </a:p>
        </p:txBody>
      </p:sp>
    </p:spTree>
    <p:extLst>
      <p:ext uri="{BB962C8B-B14F-4D97-AF65-F5344CB8AC3E}">
        <p14:creationId xmlns:p14="http://schemas.microsoft.com/office/powerpoint/2010/main" val="3628870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810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Threat Based Testing – Threat Modeling</a:t>
            </a:r>
            <a:br>
              <a:rPr lang="en-US" dirty="0" smtClean="0"/>
            </a:br>
            <a:r>
              <a:rPr lang="en-US" sz="1800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 Introduction to Threat Modeling – How Threat Modeling Helps</a:t>
            </a:r>
          </a:p>
        </p:txBody>
      </p:sp>
      <p:sp>
        <p:nvSpPr>
          <p:cNvPr id="7171" name="Rectangle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Threat Modeling enables you to:</a:t>
            </a:r>
          </a:p>
          <a:p>
            <a:pPr lvl="1" eaLnBrk="1" hangingPunct="1"/>
            <a:r>
              <a:rPr lang="en-US" smtClean="0"/>
              <a:t>Identify threats</a:t>
            </a:r>
          </a:p>
          <a:p>
            <a:pPr lvl="1" eaLnBrk="1" hangingPunct="1"/>
            <a:r>
              <a:rPr lang="en-US" smtClean="0"/>
              <a:t>Identify vulnerabilities</a:t>
            </a:r>
          </a:p>
          <a:p>
            <a:pPr lvl="1" eaLnBrk="1" hangingPunct="1"/>
            <a:r>
              <a:rPr lang="en-US" smtClean="0"/>
              <a:t>Identify mitigating factors</a:t>
            </a:r>
          </a:p>
          <a:p>
            <a:pPr lvl="1" eaLnBrk="1" hangingPunct="1"/>
            <a:r>
              <a:rPr lang="en-US" smtClean="0"/>
              <a:t>Perform risk analysis </a:t>
            </a:r>
          </a:p>
          <a:p>
            <a:pPr lvl="1" eaLnBrk="1" hangingPunct="1"/>
            <a:r>
              <a:rPr lang="en-US" smtClean="0"/>
              <a:t>Prioritize security fixes</a:t>
            </a:r>
          </a:p>
          <a:p>
            <a:pPr lvl="1" eaLnBrk="1" hangingPunct="1"/>
            <a:r>
              <a:rPr lang="en-US" smtClean="0"/>
              <a:t>Derive security test cases</a:t>
            </a:r>
          </a:p>
        </p:txBody>
      </p:sp>
    </p:spTree>
    <p:extLst>
      <p:ext uri="{BB962C8B-B14F-4D97-AF65-F5344CB8AC3E}">
        <p14:creationId xmlns:p14="http://schemas.microsoft.com/office/powerpoint/2010/main" val="1860932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Threat Based Testing –Threat Modeling</a:t>
            </a:r>
            <a:br>
              <a:rPr lang="en-US" dirty="0" smtClean="0"/>
            </a:br>
            <a:r>
              <a:rPr lang="en-US" sz="1800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 Introduction to Threat Modeling – Threat Modeling Walkthrough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For our threat modeling walkthrough, we will have an example in which we model a simple online store application that allows users to buy sport equipment</a:t>
            </a:r>
          </a:p>
          <a:p>
            <a:pPr eaLnBrk="1" hangingPunct="1"/>
            <a:r>
              <a:rPr lang="en-US" smtClean="0"/>
              <a:t>We will apply the process step-by-step to our example</a:t>
            </a:r>
          </a:p>
        </p:txBody>
      </p:sp>
    </p:spTree>
    <p:extLst>
      <p:ext uri="{BB962C8B-B14F-4D97-AF65-F5344CB8AC3E}">
        <p14:creationId xmlns:p14="http://schemas.microsoft.com/office/powerpoint/2010/main" val="1616434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Threat Based Testing – Threat Modeling</a:t>
            </a:r>
            <a:br>
              <a:rPr lang="en-US" dirty="0" smtClean="0"/>
            </a:br>
            <a:r>
              <a:rPr lang="en-US" sz="1800" dirty="0" smtClean="0">
                <a:solidFill>
                  <a:schemeClr val="bg1">
                    <a:lumMod val="85000"/>
                  </a:schemeClr>
                </a:solidFill>
              </a:rPr>
              <a:t>The Threat Modeling Process</a:t>
            </a:r>
          </a:p>
        </p:txBody>
      </p:sp>
      <p:sp>
        <p:nvSpPr>
          <p:cNvPr id="10243" name="Rectangle 7"/>
          <p:cNvSpPr>
            <a:spLocks noGrp="1" noChangeArrowheads="1"/>
          </p:cNvSpPr>
          <p:nvPr>
            <p:ph idx="1"/>
          </p:nvPr>
        </p:nvSpPr>
        <p:spPr>
          <a:xfrm>
            <a:off x="442913" y="1295400"/>
            <a:ext cx="8348662" cy="4586288"/>
          </a:xfrm>
        </p:spPr>
        <p:txBody>
          <a:bodyPr/>
          <a:lstStyle/>
          <a:p>
            <a:pPr eaLnBrk="1" hangingPunct="1">
              <a:defRPr/>
            </a:pPr>
            <a:r>
              <a:rPr lang="en-US" sz="2400" dirty="0" smtClean="0"/>
              <a:t>Threat Modeling Process </a:t>
            </a:r>
          </a:p>
          <a:p>
            <a:pPr lvl="1" eaLnBrk="1" hangingPunct="1">
              <a:defRPr/>
            </a:pPr>
            <a:r>
              <a:rPr lang="en-US" sz="2000" dirty="0" smtClean="0">
                <a:solidFill>
                  <a:schemeClr val="bg1">
                    <a:lumMod val="65000"/>
                  </a:schemeClr>
                </a:solidFill>
              </a:rPr>
              <a:t>Collecting Information</a:t>
            </a:r>
          </a:p>
          <a:p>
            <a:pPr lvl="1" eaLnBrk="1" hangingPunct="1">
              <a:defRPr/>
            </a:pPr>
            <a:r>
              <a:rPr lang="en-US" sz="2000" dirty="0" smtClean="0"/>
              <a:t>Decomposing the Application</a:t>
            </a:r>
          </a:p>
          <a:p>
            <a:pPr lvl="2" eaLnBrk="1" hangingPunct="1">
              <a:defRPr/>
            </a:pPr>
            <a:r>
              <a:rPr lang="en-US" dirty="0" smtClean="0"/>
              <a:t>Identifying Entry Points</a:t>
            </a:r>
          </a:p>
          <a:p>
            <a:pPr lvl="2" eaLnBrk="1" hangingPunct="1">
              <a:defRPr/>
            </a:pPr>
            <a:r>
              <a:rPr lang="en-US" dirty="0" smtClean="0"/>
              <a:t>Identifying Assets</a:t>
            </a:r>
          </a:p>
          <a:p>
            <a:pPr lvl="2" eaLnBrk="1" hangingPunct="1">
              <a:defRPr/>
            </a:pPr>
            <a:r>
              <a:rPr lang="en-US" dirty="0" smtClean="0"/>
              <a:t>Identifying Roles</a:t>
            </a:r>
          </a:p>
          <a:p>
            <a:pPr lvl="1" eaLnBrk="1" hangingPunct="1">
              <a:defRPr/>
            </a:pPr>
            <a:r>
              <a:rPr lang="en-US" sz="2000" dirty="0" smtClean="0"/>
              <a:t>Building the Activity Matrix</a:t>
            </a:r>
          </a:p>
          <a:p>
            <a:pPr lvl="1" eaLnBrk="1" hangingPunct="1">
              <a:defRPr/>
            </a:pPr>
            <a:r>
              <a:rPr lang="en-US" sz="2000" dirty="0" smtClean="0"/>
              <a:t>Building the Threat Profile</a:t>
            </a:r>
          </a:p>
          <a:p>
            <a:pPr lvl="2" eaLnBrk="1" hangingPunct="1">
              <a:defRPr/>
            </a:pPr>
            <a:r>
              <a:rPr lang="en-US" dirty="0" smtClean="0"/>
              <a:t>Identifying Threats</a:t>
            </a:r>
          </a:p>
          <a:p>
            <a:pPr lvl="2" eaLnBrk="1" hangingPunct="1">
              <a:defRPr/>
            </a:pPr>
            <a:r>
              <a:rPr lang="en-US" dirty="0" smtClean="0"/>
              <a:t>Classifying Threats</a:t>
            </a:r>
          </a:p>
          <a:p>
            <a:pPr lvl="2" eaLnBrk="1" hangingPunct="1">
              <a:defRPr/>
            </a:pPr>
            <a:r>
              <a:rPr lang="en-US" dirty="0" smtClean="0"/>
              <a:t>Building Threat Trees</a:t>
            </a:r>
          </a:p>
          <a:p>
            <a:pPr lvl="2" eaLnBrk="1" hangingPunct="1">
              <a:defRPr/>
            </a:pPr>
            <a:r>
              <a:rPr lang="en-US" dirty="0" smtClean="0"/>
              <a:t>Identifying Vulnerabilities</a:t>
            </a:r>
          </a:p>
          <a:p>
            <a:pPr lvl="1" eaLnBrk="1" hangingPunct="1">
              <a:defRPr/>
            </a:pPr>
            <a:r>
              <a:rPr lang="en-US" sz="2000" dirty="0" smtClean="0"/>
              <a:t>Analyzing Risks</a:t>
            </a:r>
          </a:p>
        </p:txBody>
      </p:sp>
    </p:spTree>
    <p:extLst>
      <p:ext uri="{BB962C8B-B14F-4D97-AF65-F5344CB8AC3E}">
        <p14:creationId xmlns:p14="http://schemas.microsoft.com/office/powerpoint/2010/main" val="3411586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51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Threat Based Testing – Threat Modeling</a:t>
            </a:r>
            <a:br>
              <a:rPr lang="en-US" dirty="0" smtClean="0"/>
            </a:br>
            <a:r>
              <a:rPr lang="en-US" sz="1800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The Threat Modeling Process – Collecting Information</a:t>
            </a:r>
          </a:p>
        </p:txBody>
      </p:sp>
      <p:sp>
        <p:nvSpPr>
          <p:cNvPr id="10243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Background information:</a:t>
            </a:r>
          </a:p>
          <a:p>
            <a:pPr lvl="1" eaLnBrk="1" hangingPunct="1"/>
            <a:r>
              <a:rPr lang="en-US" smtClean="0"/>
              <a:t>Can be collected relatively fast</a:t>
            </a:r>
          </a:p>
          <a:p>
            <a:pPr lvl="1" eaLnBrk="1" hangingPunct="1"/>
            <a:r>
              <a:rPr lang="en-US" smtClean="0"/>
              <a:t>Is crucial for a good start of a threat model</a:t>
            </a:r>
          </a:p>
          <a:p>
            <a:pPr lvl="1" eaLnBrk="1" hangingPunct="1"/>
            <a:r>
              <a:rPr lang="en-US" smtClean="0"/>
              <a:t>Helps to understand the application and its basic purposes</a:t>
            </a:r>
          </a:p>
          <a:p>
            <a:pPr lvl="1" eaLnBrk="1" hangingPunct="1"/>
            <a:r>
              <a:rPr lang="en-US" smtClean="0"/>
              <a:t>Provides better understanding of threat mitigations</a:t>
            </a:r>
          </a:p>
          <a:p>
            <a:pPr lvl="1" eaLnBrk="1" hangingPunct="1"/>
            <a:r>
              <a:rPr lang="en-US" smtClean="0"/>
              <a:t>Can be used throughout the entire iterative threat modeling process</a:t>
            </a:r>
          </a:p>
        </p:txBody>
      </p:sp>
    </p:spTree>
    <p:extLst>
      <p:ext uri="{BB962C8B-B14F-4D97-AF65-F5344CB8AC3E}">
        <p14:creationId xmlns:p14="http://schemas.microsoft.com/office/powerpoint/2010/main" val="967292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6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Threat Based Testing – Threat Modeling </a:t>
            </a:r>
            <a:br>
              <a:rPr lang="en-US" dirty="0" smtClean="0"/>
            </a:br>
            <a:r>
              <a:rPr lang="en-US" sz="1800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 The Threat Modeling Process – Collecting Information</a:t>
            </a:r>
            <a:endParaRPr lang="en-US" sz="2000" dirty="0" smtClean="0">
              <a:solidFill>
                <a:schemeClr val="bg2"/>
              </a:solidFill>
            </a:endParaRPr>
          </a:p>
        </p:txBody>
      </p:sp>
      <p:sp>
        <p:nvSpPr>
          <p:cNvPr id="11267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There are four main sources of background information:</a:t>
            </a:r>
          </a:p>
          <a:p>
            <a:pPr lvl="1" eaLnBrk="1" hangingPunct="1"/>
            <a:r>
              <a:rPr lang="en-US" smtClean="0"/>
              <a:t>Specifications</a:t>
            </a:r>
          </a:p>
          <a:p>
            <a:pPr lvl="1" eaLnBrk="1" hangingPunct="1"/>
            <a:r>
              <a:rPr lang="en-US" smtClean="0"/>
              <a:t>Implementation Assumptions</a:t>
            </a:r>
          </a:p>
          <a:p>
            <a:pPr lvl="1" eaLnBrk="1" hangingPunct="1"/>
            <a:r>
              <a:rPr lang="en-US" smtClean="0"/>
              <a:t>External Dependencies</a:t>
            </a:r>
          </a:p>
          <a:p>
            <a:pPr lvl="1" eaLnBrk="1" hangingPunct="1"/>
            <a:r>
              <a:rPr lang="en-US" smtClean="0"/>
              <a:t>Internal and External Security Notes</a:t>
            </a:r>
          </a:p>
        </p:txBody>
      </p:sp>
    </p:spTree>
    <p:extLst>
      <p:ext uri="{BB962C8B-B14F-4D97-AF65-F5344CB8AC3E}">
        <p14:creationId xmlns:p14="http://schemas.microsoft.com/office/powerpoint/2010/main" val="3067308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562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Threat Based Testing – Threat Modeling </a:t>
            </a:r>
            <a:br>
              <a:rPr lang="en-US" dirty="0" smtClean="0"/>
            </a:br>
            <a:r>
              <a:rPr lang="en-US" sz="1800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 The Threat Modeling Process – Collecting Information: Specifications</a:t>
            </a:r>
          </a:p>
        </p:txBody>
      </p:sp>
      <p:sp>
        <p:nvSpPr>
          <p:cNvPr id="12291" name="Rectangle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Usually include:</a:t>
            </a:r>
          </a:p>
          <a:p>
            <a:pPr lvl="1" eaLnBrk="1" hangingPunct="1"/>
            <a:r>
              <a:rPr lang="en-US" smtClean="0"/>
              <a:t>Customer requirements</a:t>
            </a:r>
          </a:p>
          <a:p>
            <a:pPr lvl="1" eaLnBrk="1" hangingPunct="1"/>
            <a:r>
              <a:rPr lang="en-US" smtClean="0"/>
              <a:t>Intended purposes</a:t>
            </a:r>
          </a:p>
          <a:p>
            <a:pPr lvl="1" eaLnBrk="1" hangingPunct="1"/>
            <a:r>
              <a:rPr lang="en-US" smtClean="0"/>
              <a:t>Use cases</a:t>
            </a:r>
          </a:p>
          <a:p>
            <a:pPr eaLnBrk="1" hangingPunct="1"/>
            <a:r>
              <a:rPr lang="en-US" smtClean="0"/>
              <a:t>Define the primary functionality of the system</a:t>
            </a:r>
          </a:p>
          <a:p>
            <a:pPr eaLnBrk="1" hangingPunct="1"/>
            <a:r>
              <a:rPr lang="en-US" smtClean="0"/>
              <a:t>Scope the threat model by providing common and uncommon uses of the System Under Test (SUT)</a:t>
            </a:r>
          </a:p>
          <a:p>
            <a:pPr eaLnBrk="1" hangingPunct="1"/>
            <a:r>
              <a:rPr lang="en-US" smtClean="0"/>
              <a:t>Can be used later to analyze the threats that emerge depending on the specific use case</a:t>
            </a:r>
          </a:p>
        </p:txBody>
      </p:sp>
    </p:spTree>
    <p:extLst>
      <p:ext uri="{BB962C8B-B14F-4D97-AF65-F5344CB8AC3E}">
        <p14:creationId xmlns:p14="http://schemas.microsoft.com/office/powerpoint/2010/main" val="2493663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Threat Based Testing – Threat Modeling </a:t>
            </a:r>
            <a:br>
              <a:rPr lang="en-US" dirty="0" smtClean="0"/>
            </a:br>
            <a:r>
              <a:rPr lang="en-US" sz="1800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 The Threat Modeling Process – Collecting Information: Implementation Assumptions</a:t>
            </a:r>
          </a:p>
        </p:txBody>
      </p:sp>
      <p:sp>
        <p:nvSpPr>
          <p:cNvPr id="13315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Decisions made before developing or during architectural or project revisions</a:t>
            </a:r>
          </a:p>
          <a:p>
            <a:pPr eaLnBrk="1" hangingPunct="1"/>
            <a:r>
              <a:rPr lang="en-US" smtClean="0"/>
              <a:t>Capture basic architectural and design assumptions that may raise security issues</a:t>
            </a:r>
          </a:p>
          <a:p>
            <a:pPr eaLnBrk="1" hangingPunct="1"/>
            <a:r>
              <a:rPr lang="en-US" smtClean="0"/>
              <a:t>List features that may increase the attack surface of the SUT</a:t>
            </a:r>
          </a:p>
          <a:p>
            <a:pPr eaLnBrk="1" hangingPunct="1"/>
            <a:r>
              <a:rPr lang="en-US" smtClean="0"/>
              <a:t>Help in defining mitigations to specific threats.   </a:t>
            </a:r>
          </a:p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903711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Threat Based Testing – Threat Modeling </a:t>
            </a:r>
            <a:br>
              <a:rPr lang="en-US" dirty="0" smtClean="0"/>
            </a:br>
            <a:r>
              <a:rPr lang="en-US" sz="1800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 The Threat Modeling Process – Collecting Information: External Dependencies</a:t>
            </a:r>
          </a:p>
        </p:txBody>
      </p:sp>
      <p:sp>
        <p:nvSpPr>
          <p:cNvPr id="14339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List the software components which the SUT relies to function properly</a:t>
            </a:r>
          </a:p>
          <a:p>
            <a:pPr eaLnBrk="1" hangingPunct="1"/>
            <a:r>
              <a:rPr lang="en-US" smtClean="0"/>
              <a:t>Can be used to construct dependency contracts to capture third-party security concerns</a:t>
            </a:r>
          </a:p>
        </p:txBody>
      </p:sp>
    </p:spTree>
    <p:extLst>
      <p:ext uri="{BB962C8B-B14F-4D97-AF65-F5344CB8AC3E}">
        <p14:creationId xmlns:p14="http://schemas.microsoft.com/office/powerpoint/2010/main" val="3955155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634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Threat Based Testing – Threat Modeling </a:t>
            </a:r>
            <a:br>
              <a:rPr lang="en-US" dirty="0" smtClean="0"/>
            </a:br>
            <a:r>
              <a:rPr lang="en-US" sz="1800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 The Threat Modeling Process – Collecting Information: Security Notes</a:t>
            </a:r>
          </a:p>
        </p:txBody>
      </p:sp>
      <p:sp>
        <p:nvSpPr>
          <p:cNvPr id="15363" name="Rectangle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Internal and external security notes</a:t>
            </a:r>
          </a:p>
          <a:p>
            <a:pPr eaLnBrk="1" hangingPunct="1"/>
            <a:r>
              <a:rPr lang="en-US" smtClean="0"/>
              <a:t>Hidden security concerns and steps that were take against them</a:t>
            </a:r>
          </a:p>
          <a:p>
            <a:pPr eaLnBrk="1" hangingPunct="1"/>
            <a:r>
              <a:rPr lang="en-US" smtClean="0"/>
              <a:t>Are used to capture the security assumptions from an architectural point of view</a:t>
            </a:r>
          </a:p>
          <a:p>
            <a:pPr eaLnBrk="1" hangingPunct="1"/>
            <a:r>
              <a:rPr lang="en-US" smtClean="0"/>
              <a:t>Help to make the threat model more clear</a:t>
            </a:r>
          </a:p>
          <a:p>
            <a:pPr eaLnBrk="1" hangingPunct="1"/>
            <a:r>
              <a:rPr lang="en-US" smtClean="0"/>
              <a:t>Aid in defining mitigations for threats discovered during step 4 (Building the Threat Profile)</a:t>
            </a:r>
          </a:p>
        </p:txBody>
      </p:sp>
    </p:spTree>
    <p:extLst>
      <p:ext uri="{BB962C8B-B14F-4D97-AF65-F5344CB8AC3E}">
        <p14:creationId xmlns:p14="http://schemas.microsoft.com/office/powerpoint/2010/main" val="4000930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Threat Based Testing – Threat Modeling </a:t>
            </a:r>
            <a:br>
              <a:rPr lang="en-US" dirty="0" smtClean="0"/>
            </a:br>
            <a:r>
              <a:rPr lang="en-US" sz="1800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 The Threat Modeling Process – Collecting Information: Example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High-level information for our online store application:</a:t>
            </a:r>
          </a:p>
          <a:p>
            <a:pPr lvl="1" eaLnBrk="1" hangingPunct="1"/>
            <a:r>
              <a:rPr lang="en-US" smtClean="0"/>
              <a:t>The application stores customer data such as shipping and billing addresses, and credit card numbers</a:t>
            </a:r>
          </a:p>
          <a:p>
            <a:pPr lvl="1" eaLnBrk="1" hangingPunct="1"/>
            <a:r>
              <a:rPr lang="en-US" smtClean="0"/>
              <a:t>The application interfaces with a 3</a:t>
            </a:r>
            <a:r>
              <a:rPr lang="en-US" baseline="30000" smtClean="0"/>
              <a:t>rd</a:t>
            </a:r>
            <a:r>
              <a:rPr lang="en-US" smtClean="0"/>
              <a:t> party payment processing system</a:t>
            </a:r>
          </a:p>
          <a:p>
            <a:pPr lvl="1" eaLnBrk="1" hangingPunct="1"/>
            <a:r>
              <a:rPr lang="en-US" smtClean="0"/>
              <a:t>The application interfaces with a separate inventory system to manage stock and re-orders</a:t>
            </a:r>
          </a:p>
        </p:txBody>
      </p:sp>
    </p:spTree>
    <p:extLst>
      <p:ext uri="{BB962C8B-B14F-4D97-AF65-F5344CB8AC3E}">
        <p14:creationId xmlns:p14="http://schemas.microsoft.com/office/powerpoint/2010/main" val="2684305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Threat Based Testing – Threat Modeling</a:t>
            </a:r>
            <a:br>
              <a:rPr lang="en-US" dirty="0" smtClean="0"/>
            </a:br>
            <a:r>
              <a:rPr lang="en-US" sz="1800" dirty="0" smtClean="0">
                <a:solidFill>
                  <a:schemeClr val="bg1">
                    <a:lumMod val="85000"/>
                  </a:schemeClr>
                </a:solidFill>
              </a:rPr>
              <a:t>The Threat Modeling Process</a:t>
            </a:r>
          </a:p>
        </p:txBody>
      </p:sp>
      <p:sp>
        <p:nvSpPr>
          <p:cNvPr id="10243" name="Rectangle 7"/>
          <p:cNvSpPr>
            <a:spLocks noGrp="1" noChangeArrowheads="1"/>
          </p:cNvSpPr>
          <p:nvPr>
            <p:ph idx="1"/>
          </p:nvPr>
        </p:nvSpPr>
        <p:spPr>
          <a:xfrm>
            <a:off x="442913" y="1295400"/>
            <a:ext cx="8348662" cy="4586288"/>
          </a:xfrm>
        </p:spPr>
        <p:txBody>
          <a:bodyPr/>
          <a:lstStyle/>
          <a:p>
            <a:pPr eaLnBrk="1" hangingPunct="1">
              <a:defRPr/>
            </a:pPr>
            <a:r>
              <a:rPr lang="en-US" sz="2400" dirty="0" smtClean="0"/>
              <a:t>Threat Modeling Process </a:t>
            </a:r>
          </a:p>
          <a:p>
            <a:pPr lvl="1" eaLnBrk="1" hangingPunct="1">
              <a:defRPr/>
            </a:pPr>
            <a:r>
              <a:rPr lang="en-US" sz="2000" dirty="0" smtClean="0"/>
              <a:t>Collecting Information</a:t>
            </a:r>
          </a:p>
          <a:p>
            <a:pPr lvl="1" eaLnBrk="1" hangingPunct="1">
              <a:defRPr/>
            </a:pPr>
            <a:r>
              <a:rPr lang="en-US" sz="2000" dirty="0" smtClean="0">
                <a:solidFill>
                  <a:schemeClr val="bg1">
                    <a:lumMod val="65000"/>
                  </a:schemeClr>
                </a:solidFill>
              </a:rPr>
              <a:t>Decomposing the Application</a:t>
            </a:r>
          </a:p>
          <a:p>
            <a:pPr lvl="2" eaLnBrk="1" hangingPunct="1">
              <a:defRPr/>
            </a:pPr>
            <a:r>
              <a:rPr lang="en-US" dirty="0" smtClean="0"/>
              <a:t>Identifying Entry Points</a:t>
            </a:r>
          </a:p>
          <a:p>
            <a:pPr lvl="2" eaLnBrk="1" hangingPunct="1">
              <a:defRPr/>
            </a:pPr>
            <a:r>
              <a:rPr lang="en-US" dirty="0" smtClean="0"/>
              <a:t>Identifying Assets</a:t>
            </a:r>
          </a:p>
          <a:p>
            <a:pPr lvl="2" eaLnBrk="1" hangingPunct="1">
              <a:defRPr/>
            </a:pPr>
            <a:r>
              <a:rPr lang="en-US" dirty="0" smtClean="0"/>
              <a:t>Identifying Roles</a:t>
            </a:r>
          </a:p>
          <a:p>
            <a:pPr lvl="1" eaLnBrk="1" hangingPunct="1">
              <a:defRPr/>
            </a:pPr>
            <a:r>
              <a:rPr lang="en-US" sz="2000" dirty="0" smtClean="0"/>
              <a:t>Building the Activity Matrix</a:t>
            </a:r>
          </a:p>
          <a:p>
            <a:pPr lvl="1" eaLnBrk="1" hangingPunct="1">
              <a:defRPr/>
            </a:pPr>
            <a:r>
              <a:rPr lang="en-US" sz="2000" dirty="0" smtClean="0"/>
              <a:t>Building the Threat Profile</a:t>
            </a:r>
          </a:p>
          <a:p>
            <a:pPr lvl="2" eaLnBrk="1" hangingPunct="1">
              <a:defRPr/>
            </a:pPr>
            <a:r>
              <a:rPr lang="en-US" dirty="0" smtClean="0"/>
              <a:t>Identifying Threats</a:t>
            </a:r>
          </a:p>
          <a:p>
            <a:pPr lvl="2" eaLnBrk="1" hangingPunct="1">
              <a:defRPr/>
            </a:pPr>
            <a:r>
              <a:rPr lang="en-US" dirty="0" smtClean="0"/>
              <a:t>Classifying Threats</a:t>
            </a:r>
          </a:p>
          <a:p>
            <a:pPr lvl="2" eaLnBrk="1" hangingPunct="1">
              <a:defRPr/>
            </a:pPr>
            <a:r>
              <a:rPr lang="en-US" dirty="0" smtClean="0"/>
              <a:t>Building Threat Trees</a:t>
            </a:r>
          </a:p>
          <a:p>
            <a:pPr lvl="2" eaLnBrk="1" hangingPunct="1">
              <a:defRPr/>
            </a:pPr>
            <a:r>
              <a:rPr lang="en-US" dirty="0" smtClean="0"/>
              <a:t>Identifying Vulnerabilities</a:t>
            </a:r>
          </a:p>
          <a:p>
            <a:pPr lvl="1" eaLnBrk="1" hangingPunct="1">
              <a:defRPr/>
            </a:pPr>
            <a:r>
              <a:rPr lang="en-US" sz="2000" dirty="0" smtClean="0"/>
              <a:t>Analyzing Risks</a:t>
            </a:r>
          </a:p>
        </p:txBody>
      </p:sp>
    </p:spTree>
    <p:extLst>
      <p:ext uri="{BB962C8B-B14F-4D97-AF65-F5344CB8AC3E}">
        <p14:creationId xmlns:p14="http://schemas.microsoft.com/office/powerpoint/2010/main" val="3983196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65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Threat Based Testing – Threat Modeling </a:t>
            </a:r>
            <a:br>
              <a:rPr lang="en-US" dirty="0" smtClean="0"/>
            </a:br>
            <a:r>
              <a:rPr lang="en-US" sz="1800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 The Threat Modeling Process – Decomposing the Application</a:t>
            </a:r>
          </a:p>
        </p:txBody>
      </p:sp>
      <p:sp>
        <p:nvSpPr>
          <p:cNvPr id="18435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Decomposing the application…</a:t>
            </a:r>
          </a:p>
          <a:p>
            <a:pPr lvl="1" eaLnBrk="1" hangingPunct="1"/>
            <a:r>
              <a:rPr lang="en-US" smtClean="0"/>
              <a:t>Is key to define the main elements of a threat model</a:t>
            </a:r>
          </a:p>
          <a:p>
            <a:pPr lvl="1" eaLnBrk="1" hangingPunct="1"/>
            <a:r>
              <a:rPr lang="en-US" smtClean="0"/>
              <a:t>Provides a more structured and formal approach to threat modeling</a:t>
            </a:r>
          </a:p>
          <a:p>
            <a:pPr lvl="1" eaLnBrk="1" hangingPunct="1"/>
            <a:r>
              <a:rPr lang="en-US" smtClean="0"/>
              <a:t>Is a great exercise to understand the inner workings of the software being modeled </a:t>
            </a:r>
          </a:p>
          <a:p>
            <a:pPr lvl="1" eaLnBrk="1" hangingPunct="1"/>
            <a:r>
              <a:rPr lang="en-US" smtClean="0"/>
              <a:t>Helps to find threats during threat discovery phase</a:t>
            </a:r>
          </a:p>
        </p:txBody>
      </p:sp>
    </p:spTree>
    <p:extLst>
      <p:ext uri="{BB962C8B-B14F-4D97-AF65-F5344CB8AC3E}">
        <p14:creationId xmlns:p14="http://schemas.microsoft.com/office/powerpoint/2010/main" val="14771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0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Threat Based Testing – Threat Modeling </a:t>
            </a:r>
            <a:br>
              <a:rPr lang="en-US" dirty="0" smtClean="0"/>
            </a:br>
            <a:r>
              <a:rPr lang="en-US" sz="1800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 The Threat Modeling Process – Decomposing the Application</a:t>
            </a:r>
            <a:endParaRPr lang="en-US" sz="1800" dirty="0" smtClean="0"/>
          </a:p>
        </p:txBody>
      </p:sp>
      <p:sp>
        <p:nvSpPr>
          <p:cNvPr id="19459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Decomposing the application consists of three steps:</a:t>
            </a:r>
          </a:p>
          <a:p>
            <a:pPr lvl="1" eaLnBrk="1" hangingPunct="1"/>
            <a:r>
              <a:rPr lang="en-US" smtClean="0"/>
              <a:t>Identifying Entry Points</a:t>
            </a:r>
          </a:p>
          <a:p>
            <a:pPr lvl="1" eaLnBrk="1" hangingPunct="1"/>
            <a:r>
              <a:rPr lang="en-US" smtClean="0"/>
              <a:t>Identifying Assets</a:t>
            </a:r>
          </a:p>
          <a:p>
            <a:pPr lvl="1" eaLnBrk="1" hangingPunct="1"/>
            <a:r>
              <a:rPr lang="en-US" smtClean="0"/>
              <a:t>Identifying Roles</a:t>
            </a:r>
          </a:p>
        </p:txBody>
      </p:sp>
    </p:spTree>
    <p:extLst>
      <p:ext uri="{BB962C8B-B14F-4D97-AF65-F5344CB8AC3E}">
        <p14:creationId xmlns:p14="http://schemas.microsoft.com/office/powerpoint/2010/main" val="1231888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70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Threat Based Testing – Threat Modeling </a:t>
            </a:r>
            <a:br>
              <a:rPr lang="en-US" dirty="0" smtClean="0"/>
            </a:br>
            <a:r>
              <a:rPr lang="en-US" sz="1800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The Threat Modeling Process – Decomposing the Application: Identifying Entry Points</a:t>
            </a:r>
          </a:p>
        </p:txBody>
      </p:sp>
      <p:sp>
        <p:nvSpPr>
          <p:cNvPr id="21507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Find the sources of input to your application. List all the points in which your system receives data from outside</a:t>
            </a:r>
          </a:p>
          <a:p>
            <a:pPr eaLnBrk="1" hangingPunct="1"/>
            <a:r>
              <a:rPr lang="en-US" smtClean="0"/>
              <a:t>List all components that receive hidden sources of input such as components that interact with the file system, registry, RPC/DCOM, memory, etc.</a:t>
            </a:r>
          </a:p>
          <a:p>
            <a:pPr eaLnBrk="1" hangingPunct="1"/>
            <a:r>
              <a:rPr lang="en-US" smtClean="0"/>
              <a:t>Collect entry points by looking at background information (use cases or external dependencies will reveal entry points for a threat model)</a:t>
            </a:r>
          </a:p>
        </p:txBody>
      </p:sp>
    </p:spTree>
    <p:extLst>
      <p:ext uri="{BB962C8B-B14F-4D97-AF65-F5344CB8AC3E}">
        <p14:creationId xmlns:p14="http://schemas.microsoft.com/office/powerpoint/2010/main" val="350192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Threat Based Testing – Threat Modeling </a:t>
            </a:r>
            <a:br>
              <a:rPr lang="en-US" dirty="0" smtClean="0"/>
            </a:br>
            <a:r>
              <a:rPr lang="en-US" sz="1800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The Threat Modeling Process – Decomposing the Application: Identifying Entry Points Example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Identifying entry points in our online store application:</a:t>
            </a:r>
          </a:p>
          <a:p>
            <a:pPr lvl="1" eaLnBrk="1" hangingPunct="1"/>
            <a:r>
              <a:rPr lang="en-US" smtClean="0"/>
              <a:t>Front-end Web server</a:t>
            </a:r>
          </a:p>
          <a:p>
            <a:pPr lvl="1" eaLnBrk="1" hangingPunct="1"/>
            <a:r>
              <a:rPr lang="en-US" smtClean="0"/>
              <a:t>Merchandise database</a:t>
            </a:r>
          </a:p>
          <a:p>
            <a:pPr lvl="1" eaLnBrk="1" hangingPunct="1"/>
            <a:r>
              <a:rPr lang="en-US" smtClean="0"/>
              <a:t>Interface with 3</a:t>
            </a:r>
            <a:r>
              <a:rPr lang="en-US" baseline="30000" smtClean="0"/>
              <a:t>rd</a:t>
            </a:r>
            <a:r>
              <a:rPr lang="en-US" smtClean="0"/>
              <a:t>-party credit card processing system</a:t>
            </a:r>
          </a:p>
          <a:p>
            <a:pPr lvl="1" eaLnBrk="1" hangingPunct="1"/>
            <a:r>
              <a:rPr lang="en-US" smtClean="0"/>
              <a:t>Interface with inventory system</a:t>
            </a:r>
          </a:p>
        </p:txBody>
      </p:sp>
    </p:spTree>
    <p:extLst>
      <p:ext uri="{BB962C8B-B14F-4D97-AF65-F5344CB8AC3E}">
        <p14:creationId xmlns:p14="http://schemas.microsoft.com/office/powerpoint/2010/main" val="893193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73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Threat Based Testing – Threat Modeling </a:t>
            </a:r>
            <a:br>
              <a:rPr lang="en-US" dirty="0" smtClean="0"/>
            </a:br>
            <a:r>
              <a:rPr lang="en-US" sz="1800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The Threat Modeling Process – Decomposing the Application: Identifying Assets</a:t>
            </a:r>
          </a:p>
        </p:txBody>
      </p:sp>
      <p:sp>
        <p:nvSpPr>
          <p:cNvPr id="24579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To find assets one needs to think about what the attacker will target</a:t>
            </a:r>
          </a:p>
          <a:p>
            <a:pPr eaLnBrk="1" hangingPunct="1"/>
            <a:r>
              <a:rPr lang="en-US" smtClean="0"/>
              <a:t>When enumerating threats during the next step, you will see that most threats relate to an attacker exploiting or stealing an asset</a:t>
            </a:r>
          </a:p>
          <a:p>
            <a:pPr eaLnBrk="1" hangingPunct="1"/>
            <a:r>
              <a:rPr lang="en-US" smtClean="0"/>
              <a:t>While doing this exercise you might start encountering threats.  Note them down for later use.</a:t>
            </a:r>
          </a:p>
        </p:txBody>
      </p:sp>
    </p:spTree>
    <p:extLst>
      <p:ext uri="{BB962C8B-B14F-4D97-AF65-F5344CB8AC3E}">
        <p14:creationId xmlns:p14="http://schemas.microsoft.com/office/powerpoint/2010/main" val="363446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Threat Based Testing – Threat Modeling </a:t>
            </a:r>
            <a:br>
              <a:rPr lang="en-US" dirty="0" smtClean="0"/>
            </a:br>
            <a:r>
              <a:rPr lang="en-US" sz="1800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The Threat Modeling Process – Decomposing the Application: Identifying Assets Example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Identifying assets in our online store application:</a:t>
            </a:r>
          </a:p>
          <a:p>
            <a:pPr lvl="1" eaLnBrk="1" hangingPunct="1"/>
            <a:r>
              <a:rPr lang="en-US" dirty="0" smtClean="0"/>
              <a:t>Customer data</a:t>
            </a:r>
          </a:p>
          <a:p>
            <a:pPr lvl="1" eaLnBrk="1" hangingPunct="1"/>
            <a:r>
              <a:rPr lang="en-US" dirty="0" smtClean="0"/>
              <a:t>Checkout cart</a:t>
            </a:r>
          </a:p>
          <a:p>
            <a:pPr lvl="1" eaLnBrk="1" hangingPunct="1"/>
            <a:r>
              <a:rPr lang="en-US" dirty="0" smtClean="0"/>
              <a:t>Merchandise</a:t>
            </a:r>
          </a:p>
          <a:p>
            <a:pPr lvl="1" eaLnBrk="1" hangingPunct="1"/>
            <a:r>
              <a:rPr lang="en-US" dirty="0" smtClean="0"/>
              <a:t>Inventory system</a:t>
            </a:r>
          </a:p>
          <a:p>
            <a:pPr lvl="1" eaLnBrk="1" hangingPunct="1"/>
            <a:r>
              <a:rPr lang="en-US" dirty="0" smtClean="0"/>
              <a:t>The Web </a:t>
            </a:r>
            <a:r>
              <a:rPr lang="en-US" smtClean="0"/>
              <a:t>appliction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437498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75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Threat Based Testing – Threat Modeling </a:t>
            </a:r>
            <a:br>
              <a:rPr lang="en-US" dirty="0" smtClean="0"/>
            </a:br>
            <a:r>
              <a:rPr lang="en-US" sz="1800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The Threat Modeling Process – Decomposing the Application: Identifying Roles</a:t>
            </a:r>
          </a:p>
        </p:txBody>
      </p:sp>
      <p:sp>
        <p:nvSpPr>
          <p:cNvPr id="27651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Roles reflect the different privileges included in your application</a:t>
            </a:r>
          </a:p>
          <a:p>
            <a:pPr eaLnBrk="1" hangingPunct="1"/>
            <a:r>
              <a:rPr lang="en-US" smtClean="0"/>
              <a:t>They are nouns that usually translate to the different users of the system (user, admin/root, guest, wheel, etc), but can also can refer to different privilege levels such as user mode vs. kernel mode</a:t>
            </a:r>
          </a:p>
          <a:p>
            <a:pPr eaLnBrk="1" hangingPunct="1"/>
            <a:r>
              <a:rPr lang="en-US" smtClean="0"/>
              <a:t>Each entry point and asset will have an associated list of roles</a:t>
            </a:r>
          </a:p>
          <a:p>
            <a:pPr eaLnBrk="1" hangingPunct="1"/>
            <a:r>
              <a:rPr lang="en-US" smtClean="0"/>
              <a:t>Noting down the roles per entry point or asset might reveal escalation of privilege or information disclosure threats</a:t>
            </a:r>
          </a:p>
        </p:txBody>
      </p:sp>
    </p:spTree>
    <p:extLst>
      <p:ext uri="{BB962C8B-B14F-4D97-AF65-F5344CB8AC3E}">
        <p14:creationId xmlns:p14="http://schemas.microsoft.com/office/powerpoint/2010/main" val="3775442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Threat Based Testing – Threat Modeling </a:t>
            </a:r>
            <a:br>
              <a:rPr lang="en-US" dirty="0" smtClean="0"/>
            </a:br>
            <a:r>
              <a:rPr lang="en-US" sz="1800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 The Threat Modeling Process – Decomposing the Application: Identifying Roles Example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Identifying roles in our online store application:</a:t>
            </a:r>
          </a:p>
          <a:p>
            <a:pPr lvl="1" eaLnBrk="1" hangingPunct="1"/>
            <a:r>
              <a:rPr lang="en-US" smtClean="0"/>
              <a:t>Web customer</a:t>
            </a:r>
          </a:p>
          <a:p>
            <a:pPr lvl="1" eaLnBrk="1" hangingPunct="1"/>
            <a:r>
              <a:rPr lang="en-US" smtClean="0"/>
              <a:t>3</a:t>
            </a:r>
            <a:r>
              <a:rPr lang="en-US" baseline="30000" smtClean="0"/>
              <a:t>rd</a:t>
            </a:r>
            <a:r>
              <a:rPr lang="en-US" smtClean="0"/>
              <a:t>-party payment processing system</a:t>
            </a:r>
          </a:p>
        </p:txBody>
      </p:sp>
    </p:spTree>
    <p:extLst>
      <p:ext uri="{BB962C8B-B14F-4D97-AF65-F5344CB8AC3E}">
        <p14:creationId xmlns:p14="http://schemas.microsoft.com/office/powerpoint/2010/main" val="2262367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Threat Based Testing – Threat Modeling</a:t>
            </a:r>
          </a:p>
        </p:txBody>
      </p:sp>
      <p:sp>
        <p:nvSpPr>
          <p:cNvPr id="10243" name="Rectangle 7"/>
          <p:cNvSpPr>
            <a:spLocks noGrp="1" noChangeArrowheads="1"/>
          </p:cNvSpPr>
          <p:nvPr>
            <p:ph idx="1"/>
          </p:nvPr>
        </p:nvSpPr>
        <p:spPr>
          <a:xfrm>
            <a:off x="442913" y="1295400"/>
            <a:ext cx="8348662" cy="4586288"/>
          </a:xfrm>
        </p:spPr>
        <p:txBody>
          <a:bodyPr/>
          <a:lstStyle/>
          <a:p>
            <a:pPr eaLnBrk="1" hangingPunct="1">
              <a:defRPr/>
            </a:pPr>
            <a:r>
              <a:rPr lang="en-US" sz="2400" dirty="0" smtClean="0"/>
              <a:t>Threat Modeling Process </a:t>
            </a:r>
          </a:p>
          <a:p>
            <a:pPr lvl="1" eaLnBrk="1" hangingPunct="1">
              <a:defRPr/>
            </a:pPr>
            <a:r>
              <a:rPr lang="en-US" sz="2000" dirty="0" smtClean="0"/>
              <a:t>Collecting Information</a:t>
            </a:r>
          </a:p>
          <a:p>
            <a:pPr lvl="1" eaLnBrk="1" hangingPunct="1">
              <a:defRPr/>
            </a:pPr>
            <a:r>
              <a:rPr lang="en-US" sz="2000" dirty="0" smtClean="0"/>
              <a:t>Decomposing the Application</a:t>
            </a:r>
          </a:p>
          <a:p>
            <a:pPr lvl="2" eaLnBrk="1" hangingPunct="1">
              <a:defRPr/>
            </a:pPr>
            <a:r>
              <a:rPr lang="en-US" dirty="0" smtClean="0"/>
              <a:t>Identifying Entry Points</a:t>
            </a:r>
          </a:p>
          <a:p>
            <a:pPr lvl="2" eaLnBrk="1" hangingPunct="1">
              <a:defRPr/>
            </a:pPr>
            <a:r>
              <a:rPr lang="en-US" dirty="0" smtClean="0"/>
              <a:t>Identifying Assets</a:t>
            </a:r>
          </a:p>
          <a:p>
            <a:pPr lvl="2" eaLnBrk="1" hangingPunct="1">
              <a:defRPr/>
            </a:pPr>
            <a:r>
              <a:rPr lang="en-US" dirty="0" smtClean="0"/>
              <a:t>Identifying Roles</a:t>
            </a:r>
          </a:p>
          <a:p>
            <a:pPr lvl="1" eaLnBrk="1" hangingPunct="1">
              <a:defRPr/>
            </a:pPr>
            <a:r>
              <a:rPr lang="en-US" sz="2000" dirty="0" smtClean="0">
                <a:solidFill>
                  <a:schemeClr val="bg1">
                    <a:lumMod val="65000"/>
                  </a:schemeClr>
                </a:solidFill>
              </a:rPr>
              <a:t>Building the Activity Matrix</a:t>
            </a:r>
          </a:p>
          <a:p>
            <a:pPr lvl="1" eaLnBrk="1" hangingPunct="1">
              <a:defRPr/>
            </a:pPr>
            <a:r>
              <a:rPr lang="en-US" sz="2000" dirty="0" smtClean="0"/>
              <a:t>Building the Threat Profile</a:t>
            </a:r>
          </a:p>
          <a:p>
            <a:pPr lvl="2" eaLnBrk="1" hangingPunct="1">
              <a:defRPr/>
            </a:pPr>
            <a:r>
              <a:rPr lang="en-US" dirty="0" smtClean="0"/>
              <a:t>Identifying Threats</a:t>
            </a:r>
          </a:p>
          <a:p>
            <a:pPr lvl="2" eaLnBrk="1" hangingPunct="1">
              <a:defRPr/>
            </a:pPr>
            <a:r>
              <a:rPr lang="en-US" dirty="0" smtClean="0"/>
              <a:t>Classifying Threats</a:t>
            </a:r>
          </a:p>
          <a:p>
            <a:pPr lvl="2" eaLnBrk="1" hangingPunct="1">
              <a:defRPr/>
            </a:pPr>
            <a:r>
              <a:rPr lang="en-US" dirty="0" smtClean="0"/>
              <a:t>Building Threat Trees</a:t>
            </a:r>
          </a:p>
          <a:p>
            <a:pPr lvl="2" eaLnBrk="1" hangingPunct="1">
              <a:defRPr/>
            </a:pPr>
            <a:r>
              <a:rPr lang="en-US" dirty="0" smtClean="0"/>
              <a:t>Identifying Vulnerabilities</a:t>
            </a:r>
          </a:p>
          <a:p>
            <a:pPr lvl="1" eaLnBrk="1" hangingPunct="1">
              <a:defRPr/>
            </a:pPr>
            <a:r>
              <a:rPr lang="en-US" sz="2000" dirty="0" smtClean="0"/>
              <a:t>Analyzing Risks</a:t>
            </a:r>
          </a:p>
        </p:txBody>
      </p:sp>
    </p:spTree>
    <p:extLst>
      <p:ext uri="{BB962C8B-B14F-4D97-AF65-F5344CB8AC3E}">
        <p14:creationId xmlns:p14="http://schemas.microsoft.com/office/powerpoint/2010/main" val="19278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Threat Based Testing – Threat Modeling </a:t>
            </a:r>
            <a:br>
              <a:rPr lang="en-US" dirty="0" smtClean="0"/>
            </a:br>
            <a:r>
              <a:rPr lang="en-US" sz="1800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The Threat Modeling Process – Building the Activity Matrix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The activity matrix is a set of explicit mappings between roles and asset</a:t>
            </a:r>
          </a:p>
          <a:p>
            <a:pPr eaLnBrk="1" hangingPunct="1"/>
            <a:r>
              <a:rPr lang="en-US" smtClean="0"/>
              <a:t>Each &lt;role, asset&gt; pair lists the access types granted to a role for the asset</a:t>
            </a:r>
          </a:p>
          <a:p>
            <a:pPr eaLnBrk="1" hangingPunct="1"/>
            <a:r>
              <a:rPr lang="en-US" smtClean="0"/>
              <a:t>The activity matrix is used in later steps to derive threats to the system based on improper asset access</a:t>
            </a:r>
          </a:p>
        </p:txBody>
      </p:sp>
    </p:spTree>
    <p:extLst>
      <p:ext uri="{BB962C8B-B14F-4D97-AF65-F5344CB8AC3E}">
        <p14:creationId xmlns:p14="http://schemas.microsoft.com/office/powerpoint/2010/main" val="6929404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Threat Based Testing – Threat Modeling </a:t>
            </a:r>
            <a:br>
              <a:rPr lang="en-US" dirty="0" smtClean="0"/>
            </a:br>
            <a:r>
              <a:rPr lang="en-US" sz="1800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The Threat Modeling Process – Building the Activity Matrix: Example</a:t>
            </a:r>
          </a:p>
        </p:txBody>
      </p:sp>
      <p:sp>
        <p:nvSpPr>
          <p:cNvPr id="31747" name="Content Placeholder 2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Building the activity matrix for our online store application:</a:t>
            </a:r>
            <a:endParaRPr lang="en-US" i="1" smtClean="0"/>
          </a:p>
        </p:txBody>
      </p:sp>
      <p:graphicFrame>
        <p:nvGraphicFramePr>
          <p:cNvPr id="27" name="Group 80"/>
          <p:cNvGraphicFramePr>
            <a:graphicFrameLocks/>
          </p:cNvGraphicFramePr>
          <p:nvPr/>
        </p:nvGraphicFramePr>
        <p:xfrm>
          <a:off x="381000" y="2209800"/>
          <a:ext cx="8348663" cy="2902903"/>
        </p:xfrm>
        <a:graphic>
          <a:graphicData uri="http://schemas.openxmlformats.org/drawingml/2006/table">
            <a:tbl>
              <a:tblPr/>
              <a:tblGrid>
                <a:gridCol w="1542798"/>
                <a:gridCol w="2835777"/>
                <a:gridCol w="2835777"/>
                <a:gridCol w="1134311"/>
              </a:tblGrid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6699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6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336699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L="97227" marR="972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6699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6699"/>
                          </a:solidFill>
                          <a:effectLst/>
                          <a:latin typeface="Arial Narrow" pitchFamily="34" charset="0"/>
                        </a:rPr>
                        <a:t>Customer Data</a:t>
                      </a:r>
                    </a:p>
                  </a:txBody>
                  <a:tcPr marL="97227" marR="972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6699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6699"/>
                          </a:solidFill>
                          <a:effectLst/>
                          <a:latin typeface="Arial Narrow" pitchFamily="34" charset="0"/>
                        </a:rPr>
                        <a:t>Merchandise</a:t>
                      </a:r>
                    </a:p>
                  </a:txBody>
                  <a:tcPr marL="97227" marR="972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6699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6699"/>
                          </a:solidFill>
                          <a:effectLst/>
                          <a:latin typeface="Arial Narrow" pitchFamily="34" charset="0"/>
                        </a:rPr>
                        <a:t>[…]</a:t>
                      </a:r>
                    </a:p>
                  </a:txBody>
                  <a:tcPr marL="97227" marR="972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1509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6699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6699"/>
                          </a:solidFill>
                          <a:effectLst/>
                          <a:latin typeface="Arial Narrow" pitchFamily="34" charset="0"/>
                        </a:rPr>
                        <a:t>Web Customer</a:t>
                      </a:r>
                    </a:p>
                  </a:txBody>
                  <a:tcPr marL="97227" marR="972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3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6699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336699"/>
                        </a:solidFill>
                        <a:effectLst/>
                        <a:latin typeface="Arial Narrow" pitchFamily="34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3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6699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6699"/>
                          </a:solidFill>
                          <a:effectLst/>
                          <a:latin typeface="Arial Narrow" pitchFamily="34" charset="0"/>
                        </a:rPr>
                        <a:t>Read: 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3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6699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6699"/>
                          </a:solidFill>
                          <a:effectLst/>
                          <a:latin typeface="Arial Narrow" pitchFamily="34" charset="0"/>
                        </a:rPr>
                        <a:t>  Own = always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3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6699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6699"/>
                          </a:solidFill>
                          <a:effectLst/>
                          <a:latin typeface="Arial Narrow" pitchFamily="34" charset="0"/>
                        </a:rPr>
                        <a:t>  Other = never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3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6699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336699"/>
                        </a:solidFill>
                        <a:effectLst/>
                        <a:latin typeface="Arial Narrow" pitchFamily="34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3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6699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6699"/>
                          </a:solidFill>
                          <a:effectLst/>
                          <a:latin typeface="Arial Narrow" pitchFamily="34" charset="0"/>
                        </a:rPr>
                        <a:t>Modify: 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3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6699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6699"/>
                          </a:solidFill>
                          <a:effectLst/>
                          <a:latin typeface="Arial Narrow" pitchFamily="34" charset="0"/>
                        </a:rPr>
                        <a:t>  Own = always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3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6699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6699"/>
                          </a:solidFill>
                          <a:effectLst/>
                          <a:latin typeface="Arial Narrow" pitchFamily="34" charset="0"/>
                        </a:rPr>
                        <a:t>  Other = never</a:t>
                      </a:r>
                    </a:p>
                  </a:txBody>
                  <a:tcPr marL="97227" marR="972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3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6699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336699"/>
                        </a:solidFill>
                        <a:effectLst/>
                        <a:latin typeface="Arial Narrow" pitchFamily="34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3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6699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6699"/>
                          </a:solidFill>
                          <a:effectLst/>
                          <a:latin typeface="Arial Narrow" pitchFamily="34" charset="0"/>
                        </a:rPr>
                        <a:t>Read: always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3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6699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336699"/>
                        </a:solidFill>
                        <a:effectLst/>
                        <a:latin typeface="Arial Narrow" pitchFamily="34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3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6699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6699"/>
                          </a:solidFill>
                          <a:effectLst/>
                          <a:latin typeface="Arial Narrow" pitchFamily="34" charset="0"/>
                        </a:rPr>
                        <a:t>Modify: never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3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6699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600" b="1" i="0" u="none" strike="noStrike" cap="none" normalizeH="0" baseline="0" smtClean="0">
                        <a:ln>
                          <a:noFill/>
                        </a:ln>
                        <a:solidFill>
                          <a:srgbClr val="336699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L="97227" marR="972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6699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600" b="1" i="0" u="none" strike="noStrike" cap="none" normalizeH="0" baseline="0" smtClean="0">
                        <a:ln>
                          <a:noFill/>
                        </a:ln>
                        <a:solidFill>
                          <a:srgbClr val="336699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L="97227" marR="972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54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6699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6699"/>
                          </a:solidFill>
                          <a:effectLst/>
                          <a:latin typeface="Arial Narrow" pitchFamily="34" charset="0"/>
                        </a:rPr>
                        <a:t>[…]</a:t>
                      </a:r>
                    </a:p>
                  </a:txBody>
                  <a:tcPr marL="97227" marR="972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6699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600" b="1" i="0" u="none" strike="noStrike" cap="none" normalizeH="0" baseline="0" smtClean="0">
                        <a:ln>
                          <a:noFill/>
                        </a:ln>
                        <a:solidFill>
                          <a:srgbClr val="336699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L="97227" marR="972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6699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600" b="1" i="0" u="none" strike="noStrike" cap="none" normalizeH="0" baseline="0" smtClean="0">
                        <a:ln>
                          <a:noFill/>
                        </a:ln>
                        <a:solidFill>
                          <a:srgbClr val="336699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L="97227" marR="972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6699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6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336699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L="97227" marR="972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7750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Threat Based Testing – Threat Modeling</a:t>
            </a:r>
          </a:p>
        </p:txBody>
      </p:sp>
      <p:sp>
        <p:nvSpPr>
          <p:cNvPr id="10243" name="Rectangle 7"/>
          <p:cNvSpPr>
            <a:spLocks noGrp="1" noChangeArrowheads="1"/>
          </p:cNvSpPr>
          <p:nvPr>
            <p:ph idx="1"/>
          </p:nvPr>
        </p:nvSpPr>
        <p:spPr>
          <a:xfrm>
            <a:off x="442913" y="1295400"/>
            <a:ext cx="8348662" cy="4586288"/>
          </a:xfrm>
        </p:spPr>
        <p:txBody>
          <a:bodyPr/>
          <a:lstStyle/>
          <a:p>
            <a:pPr eaLnBrk="1" hangingPunct="1">
              <a:defRPr/>
            </a:pPr>
            <a:r>
              <a:rPr lang="en-US" sz="2400" dirty="0" smtClean="0"/>
              <a:t>Threat Modeling Process </a:t>
            </a:r>
          </a:p>
          <a:p>
            <a:pPr lvl="1" eaLnBrk="1" hangingPunct="1">
              <a:defRPr/>
            </a:pPr>
            <a:r>
              <a:rPr lang="en-US" sz="2000" dirty="0" smtClean="0"/>
              <a:t>Collecting Information</a:t>
            </a:r>
          </a:p>
          <a:p>
            <a:pPr lvl="1" eaLnBrk="1" hangingPunct="1">
              <a:defRPr/>
            </a:pPr>
            <a:r>
              <a:rPr lang="en-US" sz="2000" dirty="0" smtClean="0"/>
              <a:t>Decomposing the Application</a:t>
            </a:r>
          </a:p>
          <a:p>
            <a:pPr lvl="2" eaLnBrk="1" hangingPunct="1">
              <a:defRPr/>
            </a:pPr>
            <a:r>
              <a:rPr lang="en-US" dirty="0" smtClean="0"/>
              <a:t>Identifying Entry Points</a:t>
            </a:r>
          </a:p>
          <a:p>
            <a:pPr lvl="2" eaLnBrk="1" hangingPunct="1">
              <a:defRPr/>
            </a:pPr>
            <a:r>
              <a:rPr lang="en-US" dirty="0" smtClean="0"/>
              <a:t>Identifying Assets</a:t>
            </a:r>
          </a:p>
          <a:p>
            <a:pPr lvl="2" eaLnBrk="1" hangingPunct="1">
              <a:defRPr/>
            </a:pPr>
            <a:r>
              <a:rPr lang="en-US" dirty="0" smtClean="0"/>
              <a:t>Identifying Roles</a:t>
            </a:r>
          </a:p>
          <a:p>
            <a:pPr lvl="1" eaLnBrk="1" hangingPunct="1">
              <a:defRPr/>
            </a:pPr>
            <a:r>
              <a:rPr lang="en-US" sz="2000" dirty="0" smtClean="0"/>
              <a:t>Building the Activity Matrix</a:t>
            </a:r>
          </a:p>
          <a:p>
            <a:pPr lvl="1" eaLnBrk="1" hangingPunct="1">
              <a:defRPr/>
            </a:pPr>
            <a:r>
              <a:rPr lang="en-US" sz="2000" dirty="0" smtClean="0">
                <a:solidFill>
                  <a:schemeClr val="bg1">
                    <a:lumMod val="65000"/>
                  </a:schemeClr>
                </a:solidFill>
              </a:rPr>
              <a:t>Building the Threat Profile</a:t>
            </a:r>
          </a:p>
          <a:p>
            <a:pPr lvl="2" eaLnBrk="1" hangingPunct="1">
              <a:defRPr/>
            </a:pPr>
            <a:r>
              <a:rPr lang="en-US" dirty="0" smtClean="0"/>
              <a:t>Identifying Threats</a:t>
            </a:r>
          </a:p>
          <a:p>
            <a:pPr lvl="2" eaLnBrk="1" hangingPunct="1">
              <a:defRPr/>
            </a:pPr>
            <a:r>
              <a:rPr lang="en-US" dirty="0" smtClean="0"/>
              <a:t>Classifying Threats</a:t>
            </a:r>
          </a:p>
          <a:p>
            <a:pPr lvl="2" eaLnBrk="1" hangingPunct="1">
              <a:defRPr/>
            </a:pPr>
            <a:r>
              <a:rPr lang="en-US" dirty="0" smtClean="0"/>
              <a:t>Building Threat Trees</a:t>
            </a:r>
          </a:p>
          <a:p>
            <a:pPr lvl="2" eaLnBrk="1" hangingPunct="1">
              <a:defRPr/>
            </a:pPr>
            <a:r>
              <a:rPr lang="en-US" dirty="0" smtClean="0"/>
              <a:t>Identifying Vulnerabilities</a:t>
            </a:r>
          </a:p>
          <a:p>
            <a:pPr lvl="1" eaLnBrk="1" hangingPunct="1">
              <a:defRPr/>
            </a:pPr>
            <a:r>
              <a:rPr lang="en-US" sz="2000" dirty="0" smtClean="0"/>
              <a:t>Analyzing Risks</a:t>
            </a:r>
          </a:p>
        </p:txBody>
      </p:sp>
    </p:spTree>
    <p:extLst>
      <p:ext uri="{BB962C8B-B14F-4D97-AF65-F5344CB8AC3E}">
        <p14:creationId xmlns:p14="http://schemas.microsoft.com/office/powerpoint/2010/main" val="3819291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2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Threat Based Testing – Threat Modeling </a:t>
            </a:r>
            <a:br>
              <a:rPr lang="en-US" dirty="0" smtClean="0"/>
            </a:br>
            <a:r>
              <a:rPr lang="en-US" sz="1800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The Threat Modeling Process – Building the Threat Profile</a:t>
            </a:r>
          </a:p>
        </p:txBody>
      </p:sp>
      <p:sp>
        <p:nvSpPr>
          <p:cNvPr id="33795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2200" smtClean="0"/>
              <a:t>A Threat Profile is:</a:t>
            </a:r>
          </a:p>
          <a:p>
            <a:pPr lvl="1" eaLnBrk="1" hangingPunct="1"/>
            <a:r>
              <a:rPr lang="en-US" sz="2000" smtClean="0"/>
              <a:t>A list of threats</a:t>
            </a:r>
          </a:p>
          <a:p>
            <a:pPr lvl="1" eaLnBrk="1" hangingPunct="1"/>
            <a:r>
              <a:rPr lang="en-US" sz="2000" smtClean="0"/>
              <a:t>A threat tree for each of the discovered threats</a:t>
            </a:r>
          </a:p>
          <a:p>
            <a:pPr lvl="1" eaLnBrk="1" hangingPunct="1"/>
            <a:r>
              <a:rPr lang="en-US" sz="2000" smtClean="0"/>
              <a:t>A description of mitigations</a:t>
            </a:r>
          </a:p>
          <a:p>
            <a:pPr lvl="1" eaLnBrk="1" hangingPunct="1"/>
            <a:r>
              <a:rPr lang="en-US" sz="2000" smtClean="0"/>
              <a:t>A list of vulnerabilities</a:t>
            </a:r>
          </a:p>
        </p:txBody>
      </p:sp>
    </p:spTree>
    <p:extLst>
      <p:ext uri="{BB962C8B-B14F-4D97-AF65-F5344CB8AC3E}">
        <p14:creationId xmlns:p14="http://schemas.microsoft.com/office/powerpoint/2010/main" val="1915115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82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Threat Based Testing – Threat Modeling </a:t>
            </a:r>
            <a:br>
              <a:rPr lang="en-US" dirty="0" smtClean="0"/>
            </a:br>
            <a:r>
              <a:rPr lang="en-US" sz="1800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The Threat Modeling Process – Building the Threat Profile</a:t>
            </a:r>
            <a:endParaRPr lang="en-US" sz="1800" dirty="0" smtClean="0">
              <a:solidFill>
                <a:schemeClr val="bg2"/>
              </a:solidFill>
            </a:endParaRPr>
          </a:p>
        </p:txBody>
      </p:sp>
      <p:sp>
        <p:nvSpPr>
          <p:cNvPr id="34819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2200" smtClean="0"/>
              <a:t>This step uses all the information collected to this point from the previous steps:</a:t>
            </a:r>
          </a:p>
          <a:p>
            <a:pPr lvl="1" eaLnBrk="1" hangingPunct="1"/>
            <a:r>
              <a:rPr lang="en-US" sz="2000" smtClean="0"/>
              <a:t>Use cases serve to identify threats in specific scenarios</a:t>
            </a:r>
          </a:p>
          <a:p>
            <a:pPr lvl="1" eaLnBrk="1" hangingPunct="1"/>
            <a:r>
              <a:rPr lang="en-US" sz="2000" smtClean="0"/>
              <a:t>Security notes, external dependencies, and implementation assumptions imply where to look and narrow the scope</a:t>
            </a:r>
          </a:p>
          <a:p>
            <a:pPr lvl="1" eaLnBrk="1" hangingPunct="1"/>
            <a:r>
              <a:rPr lang="en-US" sz="2000" smtClean="0"/>
              <a:t>Data Flow Diagrams are great resources to understand the attack surface of your application</a:t>
            </a:r>
          </a:p>
          <a:p>
            <a:pPr lvl="1" eaLnBrk="1" hangingPunct="1"/>
            <a:r>
              <a:rPr lang="en-US" sz="2000" smtClean="0"/>
              <a:t>Assets are target of threats</a:t>
            </a:r>
          </a:p>
          <a:p>
            <a:pPr lvl="1" eaLnBrk="1" hangingPunct="1"/>
            <a:r>
              <a:rPr lang="en-US" sz="2000" smtClean="0"/>
              <a:t>Entry points give context, help to identify attacks</a:t>
            </a:r>
          </a:p>
          <a:p>
            <a:pPr lvl="1" eaLnBrk="1" hangingPunct="1"/>
            <a:r>
              <a:rPr lang="en-US" sz="2000" smtClean="0"/>
              <a:t>Roles affect threat mitigations</a:t>
            </a:r>
          </a:p>
        </p:txBody>
      </p:sp>
    </p:spTree>
    <p:extLst>
      <p:ext uri="{BB962C8B-B14F-4D97-AF65-F5344CB8AC3E}">
        <p14:creationId xmlns:p14="http://schemas.microsoft.com/office/powerpoint/2010/main" val="3186450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06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Threat Based Testing – Threat Modeling </a:t>
            </a:r>
            <a:br>
              <a:rPr lang="en-US" dirty="0" smtClean="0"/>
            </a:br>
            <a:r>
              <a:rPr lang="en-US" sz="1800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The Threat Modeling Process – Building the Threat Profile</a:t>
            </a:r>
            <a:endParaRPr lang="en-US" sz="1800" dirty="0" smtClean="0"/>
          </a:p>
        </p:txBody>
      </p:sp>
      <p:sp>
        <p:nvSpPr>
          <p:cNvPr id="35843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Building the Threat Profile is achieved with the following four steps:</a:t>
            </a:r>
          </a:p>
          <a:p>
            <a:pPr lvl="1" eaLnBrk="1" hangingPunct="1"/>
            <a:r>
              <a:rPr lang="en-US" smtClean="0"/>
              <a:t>Identifying Threats</a:t>
            </a:r>
          </a:p>
          <a:p>
            <a:pPr lvl="1" eaLnBrk="1" hangingPunct="1"/>
            <a:r>
              <a:rPr lang="en-US" smtClean="0"/>
              <a:t>Classifying Threats</a:t>
            </a:r>
          </a:p>
          <a:p>
            <a:pPr lvl="1" eaLnBrk="1" hangingPunct="1"/>
            <a:r>
              <a:rPr lang="en-US" smtClean="0"/>
              <a:t>Building Threat Trees</a:t>
            </a:r>
          </a:p>
          <a:p>
            <a:pPr lvl="1" eaLnBrk="1" hangingPunct="1"/>
            <a:r>
              <a:rPr lang="en-US" smtClean="0"/>
              <a:t>Identifying Vulnerabilities</a:t>
            </a:r>
          </a:p>
        </p:txBody>
      </p:sp>
    </p:spTree>
    <p:extLst>
      <p:ext uri="{BB962C8B-B14F-4D97-AF65-F5344CB8AC3E}">
        <p14:creationId xmlns:p14="http://schemas.microsoft.com/office/powerpoint/2010/main" val="2794398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7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Threat Based Testing – Threat Modeling </a:t>
            </a:r>
            <a:br>
              <a:rPr lang="en-US" dirty="0" smtClean="0"/>
            </a:br>
            <a:r>
              <a:rPr lang="en-US" sz="1800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The Threat Modeling Process – Building the Threat Profile: Identifying Threats</a:t>
            </a:r>
          </a:p>
        </p:txBody>
      </p:sp>
      <p:sp>
        <p:nvSpPr>
          <p:cNvPr id="37891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2200" smtClean="0"/>
              <a:t>Threats are possible attacks</a:t>
            </a:r>
          </a:p>
          <a:p>
            <a:pPr lvl="1" eaLnBrk="1" hangingPunct="1"/>
            <a:r>
              <a:rPr lang="en-US" sz="2000" smtClean="0"/>
              <a:t>A threat is what an attacker might try to do to an asset or through an entry point</a:t>
            </a:r>
          </a:p>
          <a:p>
            <a:pPr lvl="1" eaLnBrk="1" hangingPunct="1"/>
            <a:r>
              <a:rPr lang="en-US" sz="2000" smtClean="0"/>
              <a:t>Threats spring out of the “never” entries in the activity matrix </a:t>
            </a:r>
          </a:p>
          <a:p>
            <a:pPr eaLnBrk="1" hangingPunct="1"/>
            <a:r>
              <a:rPr lang="en-US" sz="2200" smtClean="0"/>
              <a:t>Threats have the following characteristics:</a:t>
            </a:r>
          </a:p>
          <a:p>
            <a:pPr lvl="1" eaLnBrk="1" hangingPunct="1"/>
            <a:r>
              <a:rPr lang="en-US" sz="2000" smtClean="0"/>
              <a:t>They are usually expressed as verbs (actions)</a:t>
            </a:r>
          </a:p>
          <a:p>
            <a:pPr lvl="1" eaLnBrk="1" hangingPunct="1"/>
            <a:r>
              <a:rPr lang="en-US" sz="2000" smtClean="0"/>
              <a:t>They involve at least one entry point or one asset</a:t>
            </a:r>
          </a:p>
          <a:p>
            <a:pPr lvl="1" eaLnBrk="1" hangingPunct="1"/>
            <a:r>
              <a:rPr lang="en-US" sz="2000" smtClean="0"/>
              <a:t>They are written in the following form:</a:t>
            </a:r>
          </a:p>
          <a:p>
            <a:pPr lvl="2" eaLnBrk="1" hangingPunct="1"/>
            <a:r>
              <a:rPr lang="en-US" sz="1700" smtClean="0"/>
              <a:t>Attacker </a:t>
            </a:r>
            <a:r>
              <a:rPr lang="en-US" sz="1700" smtClean="0">
                <a:solidFill>
                  <a:srgbClr val="000000"/>
                </a:solidFill>
              </a:rPr>
              <a:t>verb</a:t>
            </a:r>
            <a:r>
              <a:rPr lang="en-US" sz="1700" smtClean="0"/>
              <a:t> to\from\with\etc </a:t>
            </a:r>
            <a:r>
              <a:rPr lang="en-US" sz="1700" smtClean="0">
                <a:solidFill>
                  <a:srgbClr val="000000"/>
                </a:solidFill>
              </a:rPr>
              <a:t>asset</a:t>
            </a:r>
            <a:r>
              <a:rPr lang="en-US" sz="1700" smtClean="0"/>
              <a:t> (for </a:t>
            </a:r>
            <a:r>
              <a:rPr lang="en-US" sz="1700" smtClean="0">
                <a:solidFill>
                  <a:srgbClr val="000000"/>
                </a:solidFill>
              </a:rPr>
              <a:t>goal</a:t>
            </a:r>
            <a:r>
              <a:rPr lang="en-US" sz="1700" smtClean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78684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802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Threat Based Testing – Threat Modeling </a:t>
            </a:r>
            <a:br>
              <a:rPr lang="en-US" dirty="0" smtClean="0"/>
            </a:br>
            <a:r>
              <a:rPr lang="en-US" sz="1800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The Threat Modeling Process – Building the Threat Profile: Identifying Threats Example</a:t>
            </a:r>
            <a:endParaRPr lang="en-US" sz="1800" dirty="0" smtClean="0">
              <a:solidFill>
                <a:schemeClr val="bg2"/>
              </a:solidFill>
            </a:endParaRPr>
          </a:p>
        </p:txBody>
      </p:sp>
      <p:sp>
        <p:nvSpPr>
          <p:cNvPr id="38915" name="Rectangle 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2200" smtClean="0"/>
              <a:t>Threat examples from our online store activity matrix: </a:t>
            </a:r>
          </a:p>
          <a:p>
            <a:pPr lvl="1" eaLnBrk="1" hangingPunct="1"/>
            <a:r>
              <a:rPr lang="en-US" sz="2000" smtClean="0"/>
              <a:t>Threat #1: Attacker steals customer information</a:t>
            </a:r>
          </a:p>
          <a:p>
            <a:pPr lvl="1" eaLnBrk="1" hangingPunct="1"/>
            <a:r>
              <a:rPr lang="en-US" sz="2000" smtClean="0"/>
              <a:t>Threat #2: Attacker connects to merchandise database to delete merchandise thus causing a denial of service</a:t>
            </a:r>
          </a:p>
        </p:txBody>
      </p:sp>
    </p:spTree>
    <p:extLst>
      <p:ext uri="{BB962C8B-B14F-4D97-AF65-F5344CB8AC3E}">
        <p14:creationId xmlns:p14="http://schemas.microsoft.com/office/powerpoint/2010/main" val="3184725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23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Threat Based Testing – Threat Modeling </a:t>
            </a:r>
            <a:br>
              <a:rPr lang="en-US" dirty="0" smtClean="0"/>
            </a:br>
            <a:r>
              <a:rPr lang="en-US" sz="1800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The Threat Modeling Process – Building the Threat Profile: Classifying Threats</a:t>
            </a:r>
          </a:p>
        </p:txBody>
      </p:sp>
      <p:sp>
        <p:nvSpPr>
          <p:cNvPr id="40963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2200" smtClean="0"/>
              <a:t>STRIDE</a:t>
            </a:r>
          </a:p>
          <a:p>
            <a:pPr lvl="1" eaLnBrk="1" hangingPunct="1"/>
            <a:r>
              <a:rPr lang="en-US" sz="2200" b="1" smtClean="0">
                <a:solidFill>
                  <a:srgbClr val="000000"/>
                </a:solidFill>
              </a:rPr>
              <a:t>S</a:t>
            </a:r>
            <a:r>
              <a:rPr lang="en-US" sz="2000" smtClean="0"/>
              <a:t>poofing</a:t>
            </a:r>
          </a:p>
          <a:p>
            <a:pPr lvl="1" eaLnBrk="1" hangingPunct="1"/>
            <a:r>
              <a:rPr lang="en-US" sz="2200" b="1" smtClean="0">
                <a:solidFill>
                  <a:srgbClr val="000000"/>
                </a:solidFill>
              </a:rPr>
              <a:t>T</a:t>
            </a:r>
            <a:r>
              <a:rPr lang="en-US" sz="2000" smtClean="0"/>
              <a:t>ampering with Data</a:t>
            </a:r>
          </a:p>
          <a:p>
            <a:pPr lvl="1" eaLnBrk="1" hangingPunct="1"/>
            <a:r>
              <a:rPr lang="en-US" sz="2200" b="1" smtClean="0">
                <a:solidFill>
                  <a:srgbClr val="000000"/>
                </a:solidFill>
              </a:rPr>
              <a:t>R</a:t>
            </a:r>
            <a:r>
              <a:rPr lang="en-US" sz="2000" smtClean="0"/>
              <a:t>epudiation</a:t>
            </a:r>
          </a:p>
          <a:p>
            <a:pPr lvl="1" eaLnBrk="1" hangingPunct="1"/>
            <a:r>
              <a:rPr lang="en-US" sz="2200" b="1" smtClean="0">
                <a:solidFill>
                  <a:srgbClr val="000000"/>
                </a:solidFill>
              </a:rPr>
              <a:t>I</a:t>
            </a:r>
            <a:r>
              <a:rPr lang="en-US" sz="2000" smtClean="0"/>
              <a:t>nformation Disclosure</a:t>
            </a:r>
          </a:p>
          <a:p>
            <a:pPr lvl="1" eaLnBrk="1" hangingPunct="1"/>
            <a:r>
              <a:rPr lang="en-US" sz="2200" b="1" smtClean="0">
                <a:solidFill>
                  <a:srgbClr val="000000"/>
                </a:solidFill>
              </a:rPr>
              <a:t>D</a:t>
            </a:r>
            <a:r>
              <a:rPr lang="en-US" sz="2000" smtClean="0"/>
              <a:t>enial Of Service</a:t>
            </a:r>
          </a:p>
          <a:p>
            <a:pPr lvl="1" eaLnBrk="1" hangingPunct="1"/>
            <a:r>
              <a:rPr lang="en-US" sz="2200" b="1" smtClean="0">
                <a:solidFill>
                  <a:srgbClr val="000000"/>
                </a:solidFill>
              </a:rPr>
              <a:t>E</a:t>
            </a:r>
            <a:r>
              <a:rPr lang="en-US" sz="2000" smtClean="0"/>
              <a:t>scalation of privilege</a:t>
            </a:r>
          </a:p>
        </p:txBody>
      </p:sp>
    </p:spTree>
    <p:extLst>
      <p:ext uri="{BB962C8B-B14F-4D97-AF65-F5344CB8AC3E}">
        <p14:creationId xmlns:p14="http://schemas.microsoft.com/office/powerpoint/2010/main" val="4102161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306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Threat Based Testing – Threat Modeling </a:t>
            </a:r>
            <a:br>
              <a:rPr lang="en-US" dirty="0" smtClean="0"/>
            </a:br>
            <a:r>
              <a:rPr lang="en-US" sz="1800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 The Threat Modeling Process – Building the Threat Profile: Classifying Threats Example</a:t>
            </a:r>
            <a:endParaRPr lang="en-US" sz="1800" dirty="0" smtClean="0">
              <a:solidFill>
                <a:schemeClr val="bg2"/>
              </a:solidFill>
            </a:endParaRPr>
          </a:p>
        </p:txBody>
      </p:sp>
      <p:sp>
        <p:nvSpPr>
          <p:cNvPr id="41987" name="Rectangle 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2200" smtClean="0"/>
              <a:t>Classifying our online store threats: </a:t>
            </a:r>
          </a:p>
          <a:p>
            <a:pPr lvl="1" eaLnBrk="1" hangingPunct="1"/>
            <a:r>
              <a:rPr lang="en-US" sz="2000" smtClean="0"/>
              <a:t>Threat #1: Attacker steals customer information</a:t>
            </a:r>
          </a:p>
          <a:p>
            <a:pPr lvl="2" eaLnBrk="1" hangingPunct="1"/>
            <a:r>
              <a:rPr lang="en-US" sz="2000" b="1" smtClean="0">
                <a:solidFill>
                  <a:srgbClr val="000000"/>
                </a:solidFill>
              </a:rPr>
              <a:t>I</a:t>
            </a:r>
            <a:r>
              <a:rPr lang="en-US" sz="1700" smtClean="0"/>
              <a:t>nformation Disclosure</a:t>
            </a:r>
          </a:p>
          <a:p>
            <a:pPr lvl="1" eaLnBrk="1" hangingPunct="1"/>
            <a:r>
              <a:rPr lang="en-US" sz="2000" smtClean="0"/>
              <a:t>Threat #2: Attacker connects to merchandise database to delete merchandise and cause denial of service</a:t>
            </a:r>
          </a:p>
          <a:p>
            <a:pPr lvl="2" eaLnBrk="1" hangingPunct="1"/>
            <a:r>
              <a:rPr lang="en-US" sz="2000" b="1" smtClean="0">
                <a:solidFill>
                  <a:srgbClr val="000000"/>
                </a:solidFill>
              </a:rPr>
              <a:t>D</a:t>
            </a:r>
            <a:r>
              <a:rPr lang="en-US" sz="1700" smtClean="0"/>
              <a:t>enial of Service</a:t>
            </a:r>
          </a:p>
        </p:txBody>
      </p:sp>
    </p:spTree>
    <p:extLst>
      <p:ext uri="{BB962C8B-B14F-4D97-AF65-F5344CB8AC3E}">
        <p14:creationId xmlns:p14="http://schemas.microsoft.com/office/powerpoint/2010/main" val="407632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35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Threat Based Testing – Threat Modeling </a:t>
            </a:r>
            <a:br>
              <a:rPr lang="en-US" dirty="0" smtClean="0"/>
            </a:br>
            <a:r>
              <a:rPr lang="en-US" sz="1800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The Threat Modeling Process – Building the Threat Profile: Building Threat Trees</a:t>
            </a:r>
          </a:p>
        </p:txBody>
      </p:sp>
      <p:sp>
        <p:nvSpPr>
          <p:cNvPr id="44035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Threat trees provide comprehensive details about a threat, describing the conditions required to realize it:</a:t>
            </a:r>
          </a:p>
          <a:p>
            <a:pPr lvl="1" eaLnBrk="1" hangingPunct="1"/>
            <a:r>
              <a:rPr lang="en-US" smtClean="0"/>
              <a:t>The root node is the threat</a:t>
            </a:r>
          </a:p>
          <a:p>
            <a:pPr lvl="1" eaLnBrk="1" hangingPunct="1"/>
            <a:r>
              <a:rPr lang="en-US" smtClean="0"/>
              <a:t>Child nodes are the conditions necessary for the threat to realize</a:t>
            </a:r>
          </a:p>
          <a:p>
            <a:pPr eaLnBrk="1" hangingPunct="1"/>
            <a:r>
              <a:rPr lang="en-US" smtClean="0"/>
              <a:t>Threat trees are used during penetration testing to construct test cases from the condition nodes</a:t>
            </a:r>
          </a:p>
        </p:txBody>
      </p:sp>
    </p:spTree>
    <p:extLst>
      <p:ext uri="{BB962C8B-B14F-4D97-AF65-F5344CB8AC3E}">
        <p14:creationId xmlns:p14="http://schemas.microsoft.com/office/powerpoint/2010/main" val="3484408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130"/>
          <p:cNvGraphicFramePr>
            <a:graphicFrameLocks noChangeAspect="1"/>
          </p:cNvGraphicFramePr>
          <p:nvPr/>
        </p:nvGraphicFramePr>
        <p:xfrm>
          <a:off x="609600" y="2255838"/>
          <a:ext cx="7848600" cy="3992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name="Visio" r:id="rId4" imgW="6811061" imgH="3464662" progId="Visio.Drawing.11">
                  <p:embed/>
                </p:oleObj>
              </mc:Choice>
              <mc:Fallback>
                <p:oleObj name="Visio" r:id="rId4" imgW="6811061" imgH="3464662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2255838"/>
                        <a:ext cx="7848600" cy="3992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Threat Based Testing – Threat Modeling </a:t>
            </a:r>
            <a:br>
              <a:rPr lang="en-US" dirty="0" smtClean="0"/>
            </a:br>
            <a:r>
              <a:rPr lang="en-US" sz="1800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The Threat Modeling Process – Building the Threat Profile: Building Threat Trees Example</a:t>
            </a:r>
            <a:endParaRPr lang="en-US" sz="1800" dirty="0"/>
          </a:p>
        </p:txBody>
      </p:sp>
      <p:sp>
        <p:nvSpPr>
          <p:cNvPr id="1028" name="Content Placeholder 7"/>
          <p:cNvSpPr>
            <a:spLocks noGrp="1"/>
          </p:cNvSpPr>
          <p:nvPr>
            <p:ph idx="1"/>
          </p:nvPr>
        </p:nvSpPr>
        <p:spPr>
          <a:xfrm>
            <a:off x="442913" y="1371600"/>
            <a:ext cx="8348662" cy="4586288"/>
          </a:xfrm>
        </p:spPr>
        <p:txBody>
          <a:bodyPr/>
          <a:lstStyle/>
          <a:p>
            <a:pPr eaLnBrk="1" hangingPunct="1"/>
            <a:r>
              <a:rPr lang="en-US" smtClean="0"/>
              <a:t>Threat tree example from our online store:</a:t>
            </a:r>
          </a:p>
          <a:p>
            <a:pPr lvl="1" eaLnBrk="1" hangingPunct="1"/>
            <a:r>
              <a:rPr lang="en-US" smtClean="0"/>
              <a:t>Threat #1: Attacker steals customer information</a:t>
            </a:r>
          </a:p>
        </p:txBody>
      </p:sp>
    </p:spTree>
    <p:extLst>
      <p:ext uri="{BB962C8B-B14F-4D97-AF65-F5344CB8AC3E}">
        <p14:creationId xmlns:p14="http://schemas.microsoft.com/office/powerpoint/2010/main" val="1498472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Threat Based Testing – Threat Modeling </a:t>
            </a:r>
            <a:br>
              <a:rPr lang="en-US" dirty="0" smtClean="0"/>
            </a:br>
            <a:r>
              <a:rPr lang="en-US" sz="1800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The Threat Modeling Process – Building the Threat Profile: Identifying Vulnerabilities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Threats and conditions can be mitigated or unmitigated</a:t>
            </a:r>
          </a:p>
          <a:p>
            <a:pPr eaLnBrk="1" hangingPunct="1"/>
            <a:r>
              <a:rPr lang="en-US" smtClean="0"/>
              <a:t>Attack paths can be built by identifying unmitigated routes from the leaf conditions to the root threat</a:t>
            </a:r>
          </a:p>
          <a:p>
            <a:pPr eaLnBrk="1" hangingPunct="1"/>
            <a:r>
              <a:rPr lang="en-US" smtClean="0"/>
              <a:t>Unmitigated attack paths yield vulnerabilities</a:t>
            </a:r>
          </a:p>
          <a:p>
            <a:pPr eaLnBrk="1" hangingPunct="1"/>
            <a:r>
              <a:rPr lang="en-US" smtClean="0"/>
              <a:t>Vulnerabilities inherit the root threats’ STRIDE classifications</a:t>
            </a:r>
          </a:p>
        </p:txBody>
      </p:sp>
    </p:spTree>
    <p:extLst>
      <p:ext uri="{BB962C8B-B14F-4D97-AF65-F5344CB8AC3E}">
        <p14:creationId xmlns:p14="http://schemas.microsoft.com/office/powerpoint/2010/main" val="1303102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786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Threat Based Testing – Threat Modeling </a:t>
            </a:r>
            <a:br>
              <a:rPr lang="en-US" dirty="0" smtClean="0"/>
            </a:br>
            <a:r>
              <a:rPr lang="en-US" sz="1800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The Threat Modeling Process – Building the Threat Profile: Identifying Vulnerabilities Example</a:t>
            </a:r>
            <a:endParaRPr lang="en-US" sz="1800" dirty="0" smtClean="0">
              <a:solidFill>
                <a:schemeClr val="bg2"/>
              </a:solidFill>
            </a:endParaRPr>
          </a:p>
        </p:txBody>
      </p:sp>
      <p:sp>
        <p:nvSpPr>
          <p:cNvPr id="47107" name="Rectangle 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2200" smtClean="0"/>
              <a:t>Vulnerability from our online store threat tree:</a:t>
            </a:r>
          </a:p>
          <a:p>
            <a:pPr lvl="1" eaLnBrk="1" hangingPunct="1"/>
            <a:r>
              <a:rPr lang="en-US" sz="2000" smtClean="0"/>
              <a:t>A SQL injection vulnerability in the query fields allows an attacker to obtain access to an account without proper credentials</a:t>
            </a:r>
          </a:p>
          <a:p>
            <a:pPr lvl="2" eaLnBrk="1" hangingPunct="1"/>
            <a:r>
              <a:rPr lang="en-US" sz="2000" b="1" smtClean="0">
                <a:solidFill>
                  <a:srgbClr val="000000"/>
                </a:solidFill>
              </a:rPr>
              <a:t>I</a:t>
            </a:r>
            <a:r>
              <a:rPr lang="en-US" sz="1700" smtClean="0"/>
              <a:t>nformation Disclosure</a:t>
            </a:r>
          </a:p>
        </p:txBody>
      </p:sp>
    </p:spTree>
    <p:extLst>
      <p:ext uri="{BB962C8B-B14F-4D97-AF65-F5344CB8AC3E}">
        <p14:creationId xmlns:p14="http://schemas.microsoft.com/office/powerpoint/2010/main" val="2937924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85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Threat Based Testing – Threat Modeling </a:t>
            </a:r>
            <a:br>
              <a:rPr lang="en-US" dirty="0" smtClean="0"/>
            </a:br>
            <a:r>
              <a:rPr lang="en-US" sz="1800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 The Threat Modeling Process – Building the Threat Profile</a:t>
            </a:r>
            <a:endParaRPr lang="en-US" sz="1800" dirty="0" smtClean="0">
              <a:solidFill>
                <a:schemeClr val="bg2"/>
              </a:solidFill>
            </a:endParaRPr>
          </a:p>
        </p:txBody>
      </p:sp>
      <p:sp>
        <p:nvSpPr>
          <p:cNvPr id="48131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Suggestions for building the threat profile:</a:t>
            </a:r>
          </a:p>
          <a:p>
            <a:pPr lvl="1" eaLnBrk="1" hangingPunct="1"/>
            <a:r>
              <a:rPr lang="en-US" smtClean="0"/>
              <a:t>Arrange a meeting to brainstorm on threats</a:t>
            </a:r>
          </a:p>
          <a:p>
            <a:pPr lvl="1" eaLnBrk="1" hangingPunct="1"/>
            <a:r>
              <a:rPr lang="en-US" smtClean="0"/>
              <a:t>Don’t think too much into solutions or mitigations</a:t>
            </a:r>
          </a:p>
          <a:p>
            <a:pPr lvl="1" eaLnBrk="1" hangingPunct="1"/>
            <a:r>
              <a:rPr lang="en-US" smtClean="0"/>
              <a:t>Identify each threat with a proper ID</a:t>
            </a:r>
          </a:p>
        </p:txBody>
      </p:sp>
    </p:spTree>
    <p:extLst>
      <p:ext uri="{BB962C8B-B14F-4D97-AF65-F5344CB8AC3E}">
        <p14:creationId xmlns:p14="http://schemas.microsoft.com/office/powerpoint/2010/main" val="1534721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Blank Presentation">
  <a:themeElements>
    <a:clrScheme name="Blank Presentation 2">
      <a:dk1>
        <a:srgbClr val="000000"/>
      </a:dk1>
      <a:lt1>
        <a:srgbClr val="FFFFFF"/>
      </a:lt1>
      <a:dk2>
        <a:srgbClr val="FFFFFF"/>
      </a:dk2>
      <a:lt2>
        <a:srgbClr val="B2B2B2"/>
      </a:lt2>
      <a:accent1>
        <a:srgbClr val="2B98C6"/>
      </a:accent1>
      <a:accent2>
        <a:srgbClr val="5AA90B"/>
      </a:accent2>
      <a:accent3>
        <a:srgbClr val="FFFFFF"/>
      </a:accent3>
      <a:accent4>
        <a:srgbClr val="000000"/>
      </a:accent4>
      <a:accent5>
        <a:srgbClr val="ACCADF"/>
      </a:accent5>
      <a:accent6>
        <a:srgbClr val="519909"/>
      </a:accent6>
      <a:hlink>
        <a:srgbClr val="0D4EB7"/>
      </a:hlink>
      <a:folHlink>
        <a:srgbClr val="F29308"/>
      </a:folHlink>
    </a:clrScheme>
    <a:fontScheme name="Blank Presentatio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FFFFFF"/>
        </a:dk2>
        <a:lt2>
          <a:srgbClr val="B2B2B2"/>
        </a:lt2>
        <a:accent1>
          <a:srgbClr val="2B98C6"/>
        </a:accent1>
        <a:accent2>
          <a:srgbClr val="5AA90B"/>
        </a:accent2>
        <a:accent3>
          <a:srgbClr val="FFFFFF"/>
        </a:accent3>
        <a:accent4>
          <a:srgbClr val="000000"/>
        </a:accent4>
        <a:accent5>
          <a:srgbClr val="ACCADF"/>
        </a:accent5>
        <a:accent6>
          <a:srgbClr val="519909"/>
        </a:accent6>
        <a:hlink>
          <a:srgbClr val="0D4EB7"/>
        </a:hlink>
        <a:folHlink>
          <a:srgbClr val="F2930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1786</Words>
  <Application>Microsoft Office PowerPoint</Application>
  <PresentationFormat>On-screen Show (4:3)</PresentationFormat>
  <Paragraphs>267</Paragraphs>
  <Slides>38</Slides>
  <Notes>36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6" baseType="lpstr">
      <vt:lpstr>Arial</vt:lpstr>
      <vt:lpstr>Arial Narrow</vt:lpstr>
      <vt:lpstr>Calibri</vt:lpstr>
      <vt:lpstr>Consolas</vt:lpstr>
      <vt:lpstr>Wingdings</vt:lpstr>
      <vt:lpstr>Office Theme</vt:lpstr>
      <vt:lpstr>Blank Presentation</vt:lpstr>
      <vt:lpstr>Visio</vt:lpstr>
      <vt:lpstr> _______    __   __   __ __      _____    _____    _______    /\_______)\ /\_\ /_/\ /_/\__/\  /\_____\  /\___/\ /\_______)\  \(___  __\/( ( (_) ) )) ) ) ) )( (_____/ / / _ \ \\(___  __\/    / / /     \ \___/ //_/ /_/_/  \ \__\   \ \(_)/ /  / / /       ( ( (      / / _ \ \\ \ \ \ \  / /__/_  / / _ \ \ ( ( (         \ \ \    ( (_( )_) ))_) ) \ \( (_____\( (_( )_) ) \ \ \        /_/_/     \/_/ \_\/ \_\/ \_\/ \/_____/ \/_/ \_\/  /_/_/       </vt:lpstr>
      <vt:lpstr>Threat Modeling</vt:lpstr>
      <vt:lpstr>Threat Based Testing – Threat Modeling Introduction to Threat Modeling – What is Threat Modeling</vt:lpstr>
      <vt:lpstr>Threat Based Testing – Threat Modeling  Introduction to Threat Modeling – How Threat Modeling Helps</vt:lpstr>
      <vt:lpstr>Threat Based Testing –Threat Modeling  Introduction to Threat Modeling – Threat Modeling Walkthrough</vt:lpstr>
      <vt:lpstr>Threat Based Testing – Threat Modeling The Threat Modeling Process</vt:lpstr>
      <vt:lpstr>Threat Based Testing – Threat Modeling The Threat Modeling Process – Collecting Information</vt:lpstr>
      <vt:lpstr>Threat Based Testing – Threat Modeling   The Threat Modeling Process – Collecting Information</vt:lpstr>
      <vt:lpstr>Threat Based Testing – Threat Modeling   The Threat Modeling Process – Collecting Information: Specifications</vt:lpstr>
      <vt:lpstr>Threat Based Testing – Threat Modeling   The Threat Modeling Process – Collecting Information: Implementation Assumptions</vt:lpstr>
      <vt:lpstr>Threat Based Testing – Threat Modeling   The Threat Modeling Process – Collecting Information: External Dependencies</vt:lpstr>
      <vt:lpstr>Threat Based Testing – Threat Modeling   The Threat Modeling Process – Collecting Information: Security Notes</vt:lpstr>
      <vt:lpstr>Threat Based Testing – Threat Modeling   The Threat Modeling Process – Collecting Information: Example</vt:lpstr>
      <vt:lpstr>Threat Based Testing – Threat Modeling The Threat Modeling Process</vt:lpstr>
      <vt:lpstr>Threat Based Testing – Threat Modeling   The Threat Modeling Process – Decomposing the Application</vt:lpstr>
      <vt:lpstr>Threat Based Testing – Threat Modeling   The Threat Modeling Process – Decomposing the Application</vt:lpstr>
      <vt:lpstr>Threat Based Testing – Threat Modeling  The Threat Modeling Process – Decomposing the Application: Identifying Entry Points</vt:lpstr>
      <vt:lpstr>Threat Based Testing – Threat Modeling  The Threat Modeling Process – Decomposing the Application: Identifying Entry Points Example</vt:lpstr>
      <vt:lpstr>Threat Based Testing – Threat Modeling  The Threat Modeling Process – Decomposing the Application: Identifying Assets</vt:lpstr>
      <vt:lpstr>Threat Based Testing – Threat Modeling  The Threat Modeling Process – Decomposing the Application: Identifying Assets Example</vt:lpstr>
      <vt:lpstr>Threat Based Testing – Threat Modeling  The Threat Modeling Process – Decomposing the Application: Identifying Roles</vt:lpstr>
      <vt:lpstr>Threat Based Testing – Threat Modeling   The Threat Modeling Process – Decomposing the Application: Identifying Roles Example</vt:lpstr>
      <vt:lpstr>Threat Based Testing – Threat Modeling</vt:lpstr>
      <vt:lpstr>Threat Based Testing – Threat Modeling  The Threat Modeling Process – Building the Activity Matrix</vt:lpstr>
      <vt:lpstr>Threat Based Testing – Threat Modeling  The Threat Modeling Process – Building the Activity Matrix: Example</vt:lpstr>
      <vt:lpstr>Threat Based Testing – Threat Modeling</vt:lpstr>
      <vt:lpstr>Threat Based Testing – Threat Modeling  The Threat Modeling Process – Building the Threat Profile</vt:lpstr>
      <vt:lpstr>Threat Based Testing – Threat Modeling  The Threat Modeling Process – Building the Threat Profile</vt:lpstr>
      <vt:lpstr>Threat Based Testing – Threat Modeling  The Threat Modeling Process – Building the Threat Profile</vt:lpstr>
      <vt:lpstr>Threat Based Testing – Threat Modeling  The Threat Modeling Process – Building the Threat Profile: Identifying Threats</vt:lpstr>
      <vt:lpstr>Threat Based Testing – Threat Modeling  The Threat Modeling Process – Building the Threat Profile: Identifying Threats Example</vt:lpstr>
      <vt:lpstr>Threat Based Testing – Threat Modeling  The Threat Modeling Process – Building the Threat Profile: Classifying Threats</vt:lpstr>
      <vt:lpstr>Threat Based Testing – Threat Modeling   The Threat Modeling Process – Building the Threat Profile: Classifying Threats Example</vt:lpstr>
      <vt:lpstr>Threat Based Testing – Threat Modeling  The Threat Modeling Process – Building the Threat Profile: Building Threat Trees</vt:lpstr>
      <vt:lpstr>Threat Based Testing – Threat Modeling  The Threat Modeling Process – Building the Threat Profile: Building Threat Trees Example</vt:lpstr>
      <vt:lpstr>Threat Based Testing – Threat Modeling  The Threat Modeling Process – Building the Threat Profile: Identifying Vulnerabilities</vt:lpstr>
      <vt:lpstr>Threat Based Testing – Threat Modeling  The Threat Modeling Process – Building the Threat Profile: Identifying Vulnerabilities Example</vt:lpstr>
      <vt:lpstr>Threat Based Testing – Threat Modeling   The Threat Modeling Process – Building the Threat Profile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_______    __   __   __ __      _____    _____    _______    /\_______)\ /\_\ /_/\ /_/\__/\  /\_____\  /\___/\ /\_______)\  \(___  __\/( ( (_) ) )) ) ) ) )( (_____/ / / _ \ \\(___  __\/    / / /     \ \___/ //_/ /_/_/  \ \__\   \ \(_)/ /  / / /       ( ( (      / / _ \ \\ \ \ \ \  / /__/_  / / _ \ \ ( ( (         \ \ \    ( (_( )_) ))_) ) \ \( (_____\( (_( )_) ) \ \ \        /_/_/     \/_/ \_\/ \_\/ \_\/ \/_____/ \/_/ \_\/  /_/_/       </dc:title>
  <dc:creator>asdf</dc:creator>
  <cp:lastModifiedBy>Yan Guo</cp:lastModifiedBy>
  <cp:revision>4</cp:revision>
  <dcterms:created xsi:type="dcterms:W3CDTF">2014-04-03T20:28:19Z</dcterms:created>
  <dcterms:modified xsi:type="dcterms:W3CDTF">2014-04-03T23:11:25Z</dcterms:modified>
</cp:coreProperties>
</file>